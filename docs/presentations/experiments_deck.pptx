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1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e2aac096-73c6-4b26-13de-fedf681a64a2}">
          <p14:sldIdLst>
            <p14:sldId id="256"/>
            <p14:sldId id="257"/>
            <p14:sldId id="258"/>
          </p14:sldIdLst>
        </p14:section>
        <p14:section name="E1 reference" id="{f283578f-2482-6e96-154a-1de4fdb3cda1}">
          <p14:sldIdLst>
            <p14:sldId id="259"/>
            <p14:sldId id="260"/>
          </p14:sldIdLst>
        </p14:section>
        <p14:section name="E1 experiment log" id="{690c52a2-ba49-8551-a552-bbfc85167ad5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E4 experiments" id="{bba35a22-73ba-1310-ccc7-d6b93f0b33d4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Summary" id="{3cf9b95e-d755-62de-abee-e150733cc016}">
          <p14:sldIdLst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4213D"/>
                </a:solidFill>
                <a:latin typeface="+mn-lt"/>
              </a:rPr>
              <a:t>Mean reward margin vs SJF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 vs SJF (%)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3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9E5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E9E5B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M0</c:v>
                  </c:pt>
                  <c:pt idx="1">
                    <c:v>M5</c:v>
                  </c:pt>
                  <c:pt idx="2">
                    <c:v>M6</c:v>
                  </c:pt>
                  <c:pt idx="3">
                    <c:v>M7</c:v>
                  </c:pt>
                  <c:pt idx="4">
                    <c:v>M8</c:v>
                  </c:pt>
                  <c:pt idx="5">
                    <c:v>M9</c:v>
                  </c:pt>
                  <c:pt idx="6">
                    <c:v>M10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-164.6</c:v>
                </c:pt>
                <c:pt idx="1">
                  <c:v>-45.81</c:v>
                </c:pt>
                <c:pt idx="2">
                  <c:v>-36.98</c:v>
                </c:pt>
                <c:pt idx="3">
                  <c:v>-16.87</c:v>
                </c:pt>
                <c:pt idx="4">
                  <c:v>-25.3</c:v>
                </c:pt>
                <c:pt idx="5">
                  <c:v>2.28</c:v>
                </c:pt>
                <c:pt idx="6">
                  <c:v>2.31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B23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3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-18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Overview: a PPO agent is compared with Shortest-Job-First (SJF) and an exact optimal solver on a one-machine scheduling task. Each slide adds one change and reports the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Metric: margin vs SJF = (PPO - SJF)/|SJF| on mean reward over 5000 deterministic episodes.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E1: every job uses the whole machine. E4: each job uses 63, 128 or 255 of the 255 capacity, so several small jobs can share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g231w4jg (stellar-dawn-304): masked job self-attention + queue_pressure. 5000 deterministic episodes against SJF and the exact DP optimal.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E1 the original PPO matched SJF. We rebuilt M0 (np7aenua) and M1 (g231w4jg) to confirm that recent changes were what broke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after this point is trustworthy in a way earlier results were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#3 and #4 show that a feature that looks redundant can carry the only signal for a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SJF run rjzcixv2. The optimal solver searches subsets at every arrival and completion, validated against brute force on 150 small instances; replaying it in the real environment gave 0 mismatches over 5000 episodes.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 run cf2zhwti. Almost identical to M0's numbers on E1 because it never sees usage.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M5 gives usage as raw numbers. Machine room = min(capacity - usage)/255, job usage = max(usage)/255.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sigmoid is used instead of a softmax because with one machine a softmax is always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Self-attention lets a job compare itself with the other jobs, which is the comparison SJF makes.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Multiplicative (FiLM-style) fusion. Not adopted.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M9 is the current best. A job that fits nowhere gets an all-zero fit vector.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Entropy was not the limiting factor.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Tested but not run. The model is already permutation-equivariant, so the augmentation would only cost compute.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Margin vs SJF in the order the experiments were run. Only the last two beat SJF.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runs: 5000 deterministic episodes, same job sets as SJF rjzcixv2.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Margins are against the SJF baseline that was run alongside each model (nb11ox0z for the original runs, mkl0zwp7 for the rebuilt ones).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biggest gains came from telling the model what fits. Mixing changes made no difference.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k-title"/>
          <p:cNvSpPr txBox="1"/>
          <p:nvPr/>
        </p:nvSpPr>
        <p:spPr>
          <a:xfrm>
            <a:off x="640080" y="91440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Teaching PPO to schedule like SJF</a:t>
            </a:r>
            <a:endParaRPr lang="en-US" sz="4400" dirty="0"/>
          </a:p>
        </p:txBody>
      </p:sp>
      <p:sp>
        <p:nvSpPr>
          <p:cNvPr id="3" name="deck-subtitle"/>
          <p:cNvSpPr txBox="1"/>
          <p:nvPr/>
        </p:nvSpPr>
        <p:spPr>
          <a:xfrm>
            <a:off x="640080" y="28346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One experiment per slide: what changed, how the network looks, and what it scored</a:t>
            </a:r>
            <a:endParaRPr lang="en-US" sz="2000" dirty="0"/>
          </a:p>
        </p:txBody>
      </p:sp>
      <p:sp>
        <p:nvSpPr>
          <p:cNvPr id="4" name="deck-footer"/>
          <p:cNvSpPr txBox="1"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3E8"/>
                </a:solidFill>
              </a:rPr>
              <a:t>Cluster scheduling simulator · models M0 to M10 · runs from Oct 2 to Oct 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setup</a:t>
            </a:r>
            <a:endParaRPr lang="en-US" sz="3000" dirty="0"/>
          </a:p>
        </p:txBody>
      </p:sp>
      <p:sp>
        <p:nvSpPr>
          <p:cNvPr id="4" name="setup-card-1"/>
          <p:cNvSpPr/>
          <p:nvPr/>
        </p:nvSpPr>
        <p:spPr>
          <a:xfrm>
            <a:off x="45720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1F5F9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</a:t>
            </a:r>
            <a:endParaRPr lang="en-US" sz="2000" dirty="0"/>
          </a:p>
        </p:txBody>
      </p:sp>
      <p:sp>
        <p:nvSpPr>
          <p:cNvPr id="6" name="setup-bullets-1"/>
          <p:cNvSpPr txBox="1"/>
          <p:nvPr/>
        </p:nvSpPr>
        <p:spPr>
          <a:xfrm>
            <a:off x="640080" y="178308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 machine, capacity 255, 3 resources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10 jobs arrive in the first ~10 ticks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Each job runs 1 to 10 ticks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Action: skip, or start one of the 10 jobs</a:t>
            </a:r>
            <a:endParaRPr lang="en-US" sz="1400" dirty="0"/>
          </a:p>
        </p:txBody>
      </p:sp>
      <p:sp>
        <p:nvSpPr>
          <p:cNvPr id="7" name="setup-card-2"/>
          <p:cNvSpPr/>
          <p:nvPr/>
        </p:nvSpPr>
        <p:spPr>
          <a:xfrm>
            <a:off x="324612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1F5F9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2900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</a:t>
            </a:r>
            <a:endParaRPr lang="en-US" sz="2000" dirty="0"/>
          </a:p>
        </p:txBody>
      </p:sp>
      <p:sp>
        <p:nvSpPr>
          <p:cNvPr id="9" name="setup-bullets-2"/>
          <p:cNvSpPr txBox="1"/>
          <p:nvPr/>
        </p:nvSpPr>
        <p:spPr>
          <a:xfrm>
            <a:off x="3429000" y="178308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Skip: −1 per active job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Start a job: +1 (time does not advance)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Failed start: −10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All done: +100, timeout: −100</a:t>
            </a:r>
            <a:endParaRPr lang="en-US" sz="1400" dirty="0"/>
          </a:p>
        </p:txBody>
      </p:sp>
      <p:sp>
        <p:nvSpPr>
          <p:cNvPr id="10" name="setup-card-3"/>
          <p:cNvSpPr/>
          <p:nvPr/>
        </p:nvSpPr>
        <p:spPr>
          <a:xfrm>
            <a:off x="603504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1F5F9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1792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and eval</a:t>
            </a:r>
            <a:endParaRPr lang="en-US" sz="2000" dirty="0"/>
          </a:p>
        </p:txBody>
      </p:sp>
      <p:sp>
        <p:nvSpPr>
          <p:cNvPr id="12" name="setup-bullets-3"/>
          <p:cNvSpPr txBox="1"/>
          <p:nvPr/>
        </p:nvSpPr>
        <p:spPr>
          <a:xfrm>
            <a:off x="6217920" y="178308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PPO, 2M steps, lr 7e-6, batch 64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Entropy coef 0.02 → 0.002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Eval: 5000 episodes, seed 42 + episode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Compare with SJF and exact optimal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environments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68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E1: every job uses 255 (one job at a time)</a:t>
            </a:r>
            <a:endParaRPr lang="en-US" sz="1200" dirty="0"/>
          </a:p>
        </p:txBody>
      </p:sp>
      <p:sp>
        <p:nvSpPr>
          <p:cNvPr id="5" name="env-capacity-1"/>
          <p:cNvSpPr/>
          <p:nvPr/>
        </p:nvSpPr>
        <p:spPr>
          <a:xfrm>
            <a:off x="457200" y="1143000"/>
            <a:ext cx="4754880" cy="365760"/>
          </a:xfrm>
          <a:prstGeom prst="rect">
            <a:avLst/>
          </a:prstGeom>
          <a:solidFill>
            <a:srgbClr val="F1F5F9"/>
          </a:solidFill>
          <a:ln w="12700">
            <a:solidFill>
              <a:schemeClr val="accent6"/>
            </a:solidFill>
            <a:prstDash val="dash"/>
          </a:ln>
        </p:spPr>
      </p:sp>
      <p:sp>
        <p:nvSpPr>
          <p:cNvPr id="6" name="env-job-1-1"/>
          <p:cNvSpPr/>
          <p:nvPr/>
        </p:nvSpPr>
        <p:spPr>
          <a:xfrm>
            <a:off x="457200" y="1143000"/>
            <a:ext cx="4754880" cy="365760"/>
          </a:xfrm>
          <a:prstGeom prst="rect">
            <a:avLst/>
          </a:prstGeom>
          <a:solidFill>
            <a:srgbClr val="F28B8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143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255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349240" y="1143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fits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600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E4: 63 + 63 + 128 = 254</a:t>
            </a:r>
            <a:endParaRPr lang="en-US" sz="1200" dirty="0"/>
          </a:p>
        </p:txBody>
      </p:sp>
      <p:sp>
        <p:nvSpPr>
          <p:cNvPr id="10" name="env-capacity-2"/>
          <p:cNvSpPr/>
          <p:nvPr/>
        </p:nvSpPr>
        <p:spPr>
          <a:xfrm>
            <a:off x="457200" y="1874520"/>
            <a:ext cx="4754880" cy="365760"/>
          </a:xfrm>
          <a:prstGeom prst="rect">
            <a:avLst/>
          </a:prstGeom>
          <a:solidFill>
            <a:srgbClr val="F1F5F9"/>
          </a:solidFill>
          <a:ln w="12700">
            <a:solidFill>
              <a:schemeClr val="accent6"/>
            </a:solidFill>
            <a:prstDash val="dash"/>
          </a:ln>
        </p:spPr>
      </p:sp>
      <p:sp>
        <p:nvSpPr>
          <p:cNvPr id="11" name="env-job-2-1"/>
          <p:cNvSpPr/>
          <p:nvPr/>
        </p:nvSpPr>
        <p:spPr>
          <a:xfrm>
            <a:off x="457200" y="1874520"/>
            <a:ext cx="1174735" cy="365760"/>
          </a:xfrm>
          <a:prstGeom prst="rect">
            <a:avLst/>
          </a:prstGeom>
          <a:solidFill>
            <a:srgbClr val="8FB3E8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" y="1874520"/>
            <a:ext cx="1174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63</a:t>
            </a:r>
            <a:endParaRPr lang="en-US" sz="1200" dirty="0"/>
          </a:p>
        </p:txBody>
      </p:sp>
      <p:sp>
        <p:nvSpPr>
          <p:cNvPr id="13" name="env-job-2-2"/>
          <p:cNvSpPr/>
          <p:nvPr/>
        </p:nvSpPr>
        <p:spPr>
          <a:xfrm>
            <a:off x="1631935" y="1874520"/>
            <a:ext cx="1174735" cy="365760"/>
          </a:xfrm>
          <a:prstGeom prst="rect">
            <a:avLst/>
          </a:prstGeom>
          <a:solidFill>
            <a:srgbClr val="8FB3E8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631935" y="1874520"/>
            <a:ext cx="1174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63</a:t>
            </a:r>
            <a:endParaRPr lang="en-US" sz="1200" dirty="0"/>
          </a:p>
        </p:txBody>
      </p:sp>
      <p:sp>
        <p:nvSpPr>
          <p:cNvPr id="15" name="env-job-2-3"/>
          <p:cNvSpPr/>
          <p:nvPr/>
        </p:nvSpPr>
        <p:spPr>
          <a:xfrm>
            <a:off x="2806670" y="1874520"/>
            <a:ext cx="2386763" cy="365760"/>
          </a:xfrm>
          <a:prstGeom prst="rect">
            <a:avLst/>
          </a:prstGeom>
          <a:solidFill>
            <a:srgbClr val="F2C14E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806670" y="1874520"/>
            <a:ext cx="23867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128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349240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fits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2240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E4: 63 + 128 = 191</a:t>
            </a:r>
            <a:endParaRPr lang="en-US" sz="1200" dirty="0"/>
          </a:p>
        </p:txBody>
      </p:sp>
      <p:sp>
        <p:nvSpPr>
          <p:cNvPr id="19" name="env-capacity-3"/>
          <p:cNvSpPr/>
          <p:nvPr/>
        </p:nvSpPr>
        <p:spPr>
          <a:xfrm>
            <a:off x="457200" y="2514600"/>
            <a:ext cx="4754880" cy="365760"/>
          </a:xfrm>
          <a:prstGeom prst="rect">
            <a:avLst/>
          </a:prstGeom>
          <a:solidFill>
            <a:srgbClr val="F1F5F9"/>
          </a:solidFill>
          <a:ln w="12700">
            <a:solidFill>
              <a:schemeClr val="accent6"/>
            </a:solidFill>
            <a:prstDash val="dash"/>
          </a:ln>
        </p:spPr>
      </p:sp>
      <p:sp>
        <p:nvSpPr>
          <p:cNvPr id="20" name="env-job-3-1"/>
          <p:cNvSpPr/>
          <p:nvPr/>
        </p:nvSpPr>
        <p:spPr>
          <a:xfrm>
            <a:off x="457200" y="2514600"/>
            <a:ext cx="1174735" cy="365760"/>
          </a:xfrm>
          <a:prstGeom prst="rect">
            <a:avLst/>
          </a:prstGeom>
          <a:solidFill>
            <a:srgbClr val="8FB3E8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2514600"/>
            <a:ext cx="1174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63</a:t>
            </a:r>
            <a:endParaRPr lang="en-US" sz="1200" dirty="0"/>
          </a:p>
        </p:txBody>
      </p:sp>
      <p:sp>
        <p:nvSpPr>
          <p:cNvPr id="22" name="env-job-3-2"/>
          <p:cNvSpPr/>
          <p:nvPr/>
        </p:nvSpPr>
        <p:spPr>
          <a:xfrm>
            <a:off x="1631935" y="2514600"/>
            <a:ext cx="2386763" cy="365760"/>
          </a:xfrm>
          <a:prstGeom prst="rect">
            <a:avLst/>
          </a:prstGeom>
          <a:solidFill>
            <a:srgbClr val="F2C14E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631935" y="2514600"/>
            <a:ext cx="23867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128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349240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fits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2880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E4: 128 + 128 = 256 &gt; 255</a:t>
            </a:r>
            <a:endParaRPr lang="en-US" sz="1200" dirty="0"/>
          </a:p>
        </p:txBody>
      </p:sp>
      <p:sp>
        <p:nvSpPr>
          <p:cNvPr id="26" name="env-capacity-4"/>
          <p:cNvSpPr/>
          <p:nvPr/>
        </p:nvSpPr>
        <p:spPr>
          <a:xfrm>
            <a:off x="457200" y="3154680"/>
            <a:ext cx="4754880" cy="365760"/>
          </a:xfrm>
          <a:prstGeom prst="rect">
            <a:avLst/>
          </a:prstGeom>
          <a:solidFill>
            <a:srgbClr val="F1F5F9"/>
          </a:solidFill>
          <a:ln w="12700">
            <a:solidFill>
              <a:schemeClr val="accent6"/>
            </a:solidFill>
            <a:prstDash val="dash"/>
          </a:ln>
        </p:spPr>
      </p:sp>
      <p:sp>
        <p:nvSpPr>
          <p:cNvPr id="27" name="env-job-4-1"/>
          <p:cNvSpPr/>
          <p:nvPr/>
        </p:nvSpPr>
        <p:spPr>
          <a:xfrm>
            <a:off x="457200" y="3154680"/>
            <a:ext cx="2386763" cy="365760"/>
          </a:xfrm>
          <a:prstGeom prst="rect">
            <a:avLst/>
          </a:prstGeom>
          <a:solidFill>
            <a:srgbClr val="F2C14E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7200" y="3154680"/>
            <a:ext cx="23867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128</a:t>
            </a:r>
            <a:endParaRPr lang="en-US" sz="1200" dirty="0"/>
          </a:p>
        </p:txBody>
      </p:sp>
      <p:sp>
        <p:nvSpPr>
          <p:cNvPr id="29" name="env-job-4-2"/>
          <p:cNvSpPr/>
          <p:nvPr/>
        </p:nvSpPr>
        <p:spPr>
          <a:xfrm>
            <a:off x="2843963" y="3154680"/>
            <a:ext cx="2386763" cy="365760"/>
          </a:xfrm>
          <a:prstGeom prst="rect">
            <a:avLst/>
          </a:prstGeom>
          <a:solidFill>
            <a:srgbClr val="F2C14E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843963" y="3154680"/>
            <a:ext cx="23867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128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367887" y="3154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does not fit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457200" y="3520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E4: 255 needs the machine alone (63 + 255 &gt; 255)</a:t>
            </a:r>
            <a:endParaRPr lang="en-US" sz="1200" dirty="0"/>
          </a:p>
        </p:txBody>
      </p:sp>
      <p:sp>
        <p:nvSpPr>
          <p:cNvPr id="33" name="env-capacity-5"/>
          <p:cNvSpPr/>
          <p:nvPr/>
        </p:nvSpPr>
        <p:spPr>
          <a:xfrm>
            <a:off x="457200" y="3794760"/>
            <a:ext cx="4754880" cy="365760"/>
          </a:xfrm>
          <a:prstGeom prst="rect">
            <a:avLst/>
          </a:prstGeom>
          <a:solidFill>
            <a:srgbClr val="F1F5F9"/>
          </a:solidFill>
          <a:ln w="12700">
            <a:solidFill>
              <a:schemeClr val="accent6"/>
            </a:solidFill>
            <a:prstDash val="dash"/>
          </a:ln>
        </p:spPr>
      </p:sp>
      <p:sp>
        <p:nvSpPr>
          <p:cNvPr id="34" name="env-job-5-1"/>
          <p:cNvSpPr/>
          <p:nvPr/>
        </p:nvSpPr>
        <p:spPr>
          <a:xfrm>
            <a:off x="457200" y="3794760"/>
            <a:ext cx="1174735" cy="365760"/>
          </a:xfrm>
          <a:prstGeom prst="rect">
            <a:avLst/>
          </a:prstGeom>
          <a:solidFill>
            <a:srgbClr val="8FB3E8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57200" y="3794760"/>
            <a:ext cx="1174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63</a:t>
            </a:r>
            <a:endParaRPr lang="en-US" sz="1200" dirty="0"/>
          </a:p>
        </p:txBody>
      </p:sp>
      <p:sp>
        <p:nvSpPr>
          <p:cNvPr id="36" name="env-job-5-2"/>
          <p:cNvSpPr/>
          <p:nvPr/>
        </p:nvSpPr>
        <p:spPr>
          <a:xfrm>
            <a:off x="1631935" y="3794760"/>
            <a:ext cx="4754880" cy="365760"/>
          </a:xfrm>
          <a:prstGeom prst="rect">
            <a:avLst/>
          </a:prstGeom>
          <a:solidFill>
            <a:srgbClr val="F28B8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631935" y="3794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255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6523975" y="3794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does not fit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457200" y="4343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Jobs on E4 are 63, 128 or 255 with equal chance. A good policy has to check what fits, not only which job is shortest.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E1 results: the original best model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Against SJF</a:t>
            </a:r>
            <a:endParaRPr lang="en-US" sz="1200" dirty="0"/>
          </a:p>
        </p:txBody>
      </p:sp>
      <p:graphicFrame>
        <p:nvGraphicFramePr>
          <p:cNvPr id="5" name="e1-vs-sjf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39319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Measure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Ties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82.00% (4100)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PPO wins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14.14% (707)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SJF wins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3.86% (193)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Mean reward margin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+1.14%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Wait-time margin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−0.83%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Completion-time margin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−0.62%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75488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Against the exact optimal</a:t>
            </a:r>
            <a:endParaRPr lang="en-US" sz="1200" dirty="0"/>
          </a:p>
        </p:txBody>
      </p:sp>
      <p:graphicFrame>
        <p:nvGraphicFramePr>
          <p:cNvPr id="9" name="e1-vs-optimal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71600"/>
          <a:ext cx="39319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8288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Measure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Optimal mean reward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−131.0788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PPO mean reward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−131.6342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SJF mean reward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−133.1472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Exact optimal schedule, PPO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90.68% (4534)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Exact optimal schedule, SJF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80.96% (4048)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Gap to optimal closed by PPO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73.1% reward, 69.7% wait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e1-takeaway"/>
          <p:cNvSpPr txBox="1"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PPO beats SJF by a small margin and sits much closer to the true optimum: it finds the optimal schedule on 90.68% of episodes against SJF's 80.96%.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E1: rebuilding the original models</a:t>
            </a:r>
            <a:endParaRPr lang="en-US" sz="3000" dirty="0"/>
          </a:p>
        </p:txBody>
      </p:sp>
      <p:sp>
        <p:nvSpPr>
          <p:cNvPr id="4" name="stack-box-1"/>
          <p:cNvSpPr/>
          <p:nvPr/>
        </p:nvSpPr>
        <p:spPr>
          <a:xfrm>
            <a:off x="457200" y="10972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stack-text-1"/>
          <p:cNvSpPr txBox="1"/>
          <p:nvPr/>
        </p:nvSpPr>
        <p:spPr>
          <a:xfrm>
            <a:off x="548640" y="10972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Per-job input (20)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status, size, wait, ttl, arrival</a:t>
            </a:r>
            <a:endParaRPr lang="en-US" sz="1100" dirty="0"/>
          </a:p>
        </p:txBody>
      </p:sp>
      <p:sp>
        <p:nvSpPr>
          <p:cNvPr id="6" name="stack-arrow-1"/>
          <p:cNvSpPr/>
          <p:nvPr/>
        </p:nvSpPr>
        <p:spPr>
          <a:xfrm rot="10800000">
            <a:off x="2450592" y="14859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7" name="stack-box-2"/>
          <p:cNvSpPr/>
          <p:nvPr/>
        </p:nvSpPr>
        <p:spPr>
          <a:xfrm>
            <a:off x="457200" y="15544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stack-text-2"/>
          <p:cNvSpPr txBox="1"/>
          <p:nvPr/>
        </p:nvSpPr>
        <p:spPr>
          <a:xfrm>
            <a:off x="548640" y="15544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Job encoder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20 → 256 → 256, shared across jobs</a:t>
            </a:r>
            <a:endParaRPr lang="en-US" sz="1100" dirty="0"/>
          </a:p>
        </p:txBody>
      </p:sp>
      <p:sp>
        <p:nvSpPr>
          <p:cNvPr id="9" name="stack-arrow-2"/>
          <p:cNvSpPr/>
          <p:nvPr/>
        </p:nvSpPr>
        <p:spPr>
          <a:xfrm rot="10800000">
            <a:off x="2450592" y="19431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0" name="stack-box-3"/>
          <p:cNvSpPr/>
          <p:nvPr/>
        </p:nvSpPr>
        <p:spPr>
          <a:xfrm>
            <a:off x="457200" y="20116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stack-text-3"/>
          <p:cNvSpPr txBox="1"/>
          <p:nvPr/>
        </p:nvSpPr>
        <p:spPr>
          <a:xfrm>
            <a:off x="548640" y="20116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Job self-attention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4 heads, finished jobs masked</a:t>
            </a:r>
            <a:endParaRPr lang="en-US" sz="1100" dirty="0"/>
          </a:p>
        </p:txBody>
      </p:sp>
      <p:sp>
        <p:nvSpPr>
          <p:cNvPr id="12" name="stack-arrow-3"/>
          <p:cNvSpPr/>
          <p:nvPr/>
        </p:nvSpPr>
        <p:spPr>
          <a:xfrm rot="10800000">
            <a:off x="2450592" y="24003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3" name="stack-box-4"/>
          <p:cNvSpPr/>
          <p:nvPr/>
        </p:nvSpPr>
        <p:spPr>
          <a:xfrm>
            <a:off x="457200" y="24688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stack-text-4"/>
          <p:cNvSpPr txBox="1"/>
          <p:nvPr/>
        </p:nvSpPr>
        <p:spPr>
          <a:xfrm>
            <a:off x="548640" y="24688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Attention pooling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weighted sum of jobs → global summary</a:t>
            </a:r>
            <a:endParaRPr lang="en-US" sz="1100" dirty="0"/>
          </a:p>
        </p:txBody>
      </p:sp>
      <p:sp>
        <p:nvSpPr>
          <p:cNvPr id="15" name="stack-arrow-4"/>
          <p:cNvSpPr/>
          <p:nvPr/>
        </p:nvSpPr>
        <p:spPr>
          <a:xfrm rot="10800000">
            <a:off x="2450592" y="28575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6" name="stack-box-5"/>
          <p:cNvSpPr/>
          <p:nvPr/>
        </p:nvSpPr>
        <p:spPr>
          <a:xfrm>
            <a:off x="457200" y="29260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stack-text-5"/>
          <p:cNvSpPr txBox="1"/>
          <p:nvPr/>
        </p:nvSpPr>
        <p:spPr>
          <a:xfrm>
            <a:off x="548640" y="29260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Scorer per job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[global | machine | job] 768 → 128 → 1</a:t>
            </a:r>
            <a:endParaRPr lang="en-US" sz="1100" dirty="0"/>
          </a:p>
        </p:txBody>
      </p:sp>
      <p:sp>
        <p:nvSpPr>
          <p:cNvPr id="18" name="stack-arrow-5"/>
          <p:cNvSpPr/>
          <p:nvPr/>
        </p:nvSpPr>
        <p:spPr>
          <a:xfrm rot="10800000">
            <a:off x="2450592" y="33147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9" name="stack-box-6"/>
          <p:cNvSpPr/>
          <p:nvPr/>
        </p:nvSpPr>
        <p:spPr>
          <a:xfrm>
            <a:off x="457200" y="33832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stack-text-6"/>
          <p:cNvSpPr txBox="1"/>
          <p:nvPr/>
        </p:nvSpPr>
        <p:spPr>
          <a:xfrm>
            <a:off x="548640" y="33832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11 action logits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skip + one per job, softmax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3931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M0 (baseline). M1 adds queue_pressure and job self-attention.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84632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Results on E1</a:t>
            </a:r>
            <a:endParaRPr lang="en-US" sz="1200" dirty="0"/>
          </a:p>
        </p:txBody>
      </p:sp>
      <p:graphicFrame>
        <p:nvGraphicFramePr>
          <p:cNvPr id="6" name="e1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417320"/>
          <a:ext cx="38404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822960"/>
                <a:gridCol w="1005840"/>
                <a:gridCol w="9144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Run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Reward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vs SJF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mkl0zwp7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SJF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−133.15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6b195fqa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M0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−131.84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+0.98%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khz1l51q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M1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−0.15%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script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Optimal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−131.08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+1.56%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Text 20"/>
          <p:cNvSpPr txBox="1"/>
          <p:nvPr/>
        </p:nvSpPr>
        <p:spPr>
          <a:xfrm>
            <a:off x="4846320" y="320040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Both rebuilt models land within about 1% of SJF, so the E1 task itself is solved. The later regression came from the dual-attention and packing changes.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E1 log: methodology fixes</a:t>
            </a:r>
            <a:endParaRPr lang="en-US" sz="3000" dirty="0"/>
          </a:p>
        </p:txBody>
      </p:sp>
      <p:graphicFrame>
        <p:nvGraphicFramePr>
          <p:cNvPr id="7" name="log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651760"/>
                <a:gridCol w="4114800"/>
                <a:gridCol w="10058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Experiment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Verdict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330"/>
                          </a:solidFill>
                        </a:rPr>
                        <a:t>F1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Decouple arrival time and size in the job generator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Both came from one jittered value, so "arrived first" and "smallest" were almost the same job and SJF won for free.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5B"/>
                          </a:solidFill>
                        </a:rPr>
                        <a:t>Kept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330"/>
                          </a:solidFill>
                        </a:rPr>
                        <a:t>F2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Deterministic evaluation (was sampling actions)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The same trained model scored from +1.03% to −6.44% depending on the sampling. Several earlier "results" were noise.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5B"/>
                          </a:solidFill>
                        </a:rPr>
                        <a:t>Kept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330"/>
                          </a:solidFill>
                        </a:rPr>
                        <a:t>F3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5000 evaluation episodes (was 100) and W&amp;B history samples = 10 000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100 episodes cannot separate real effects from noise at ~1% margins; W&amp;B silently capped at ~500 points.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5B"/>
                          </a:solidFill>
                        </a:rPr>
                        <a:t>Kept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log-note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These fixes came first because every later number depends on them.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E1 log: task shape and features (#1 to #5)</a:t>
            </a:r>
            <a:endParaRPr lang="en-US" sz="3000" dirty="0"/>
          </a:p>
        </p:txBody>
      </p:sp>
      <p:graphicFrame>
        <p:nvGraphicFramePr>
          <p:cNvPr id="8" name="log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651760"/>
                <a:gridCol w="4114800"/>
                <a:gridCol w="10058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Experiment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Verdict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33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Widen and skew arrivals (0 to 20 ticks)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Ties fell 73% to 59%: spreading jobs out reduced contention and lengthened episodes.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Reverted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33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3 machines and 15 jobs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Partial run: PPO lost badly (92% SJF wins) before it was stopped.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Reverted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33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Add arrival_time (time until arrival) as a feature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First genuine win: 73% ties, +1.03% (+0.94% after the eval fix).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5B"/>
                          </a:solidFill>
                        </a:rPr>
                        <a:t>Kept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33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Drop ttl (thought redundant with size)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Regressed: 52% ties, −14.67%. ttl is the only hint of when the running job frees the machine.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Reverted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33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queue_pressure, global only (critic input)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Ties 82.66% to 77.18%, margin +0.74%: more reactive, not more accurate.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C6B7A"/>
                          </a:solidFill>
                        </a:rPr>
                        <a:t>Superseded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E1 log: attention and reward (#6 to #10)</a:t>
            </a:r>
            <a:endParaRPr lang="en-US" sz="3000" dirty="0"/>
          </a:p>
        </p:txBody>
      </p:sp>
      <p:graphicFrame>
        <p:nvGraphicFramePr>
          <p:cNvPr id="9" name="log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651760"/>
                <a:gridCol w="4114800"/>
                <a:gridCol w="10058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Experiment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Verdict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330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queue_pressure, global and per job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New best at the time: 82.74% ties, +1.08%, fewer SJF wins (185).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5B"/>
                          </a:solidFill>
                        </a:rPr>
                        <a:t>Kept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330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Job self-attention, unmasked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Fewest SJF wins (159) but PPO wins also fell (661): more SJF-like, +0.75%.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C6B7A"/>
                          </a:solidFill>
                        </a:rPr>
                        <a:t>Superseded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330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Job self-attention with finished jobs masked out as keys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Best on E1: 707 PPO wins, 193 SJF wins, 82.00% ties, +1.14%. Improved wins and losses together.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5B"/>
                          </a:solidFill>
                        </a:rPr>
                        <a:t>Kept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330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Deeper job-context encoder and deeper scorer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Large regression: −17.51%, SJF won 41.34%. More depth hurt at this scale.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Reverted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33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End the episode on a failed allocation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Roughly neutral: 75% ties, +0.67%.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C6B7A"/>
                          </a:solidFill>
                        </a:rPr>
                        <a:t>Neutral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log-note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#8 is the model rebuilt as g231w4jg and the best result on E1.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E1 log: training and optimal (#11 to #14)</a:t>
            </a:r>
            <a:endParaRPr lang="en-US" sz="3000" dirty="0"/>
          </a:p>
        </p:txBody>
      </p:sp>
      <p:graphicFrame>
        <p:nvGraphicFramePr>
          <p:cNvPr id="10" name="log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651760"/>
                <a:gridCol w="4114800"/>
                <a:gridCol w="10058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Experiment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Verdict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330"/>
                          </a:solidFill>
                        </a:rPr>
                        <a:t>11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Higher entropy (0.05 to 0.01)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+0.80% against +0.74%: within noise. Exploration was not the bottleneck.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Reverted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330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More training steps (2M to 4M)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No effect: the curve was flat by ~10k updates. Convergence, not undertraining.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Reverted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330"/>
                          </a:solidFill>
                        </a:rPr>
                        <a:t>13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Higher gamma and lambda (0.999 / 0.99)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Mild regression: PPO wins 643 (from 707), margin +0.61%.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Reverted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330"/>
                          </a:solidFill>
                        </a:rPr>
                        <a:t>14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Exact DP optimal solver (Pareto frontier over subsets)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PPO closes ~73% of the SJF-to-optimal gap and finds the optimal schedule on 90.68% of episodes against SJF's 80.96%.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</a:rPr>
                        <a:t>Ceiling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log-note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The DP solver is exact because the simulator exposes every job's arrival and size from step 0.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E1 log: dual attention (#15)</a:t>
            </a:r>
            <a:endParaRPr lang="en-US" sz="3000" dirty="0"/>
          </a:p>
        </p:txBody>
      </p:sp>
      <p:graphicFrame>
        <p:nvGraphicFramePr>
          <p:cNvPr id="11" name="log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651760"/>
                <a:gridCol w="4114800"/>
                <a:gridCol w="10058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Experiment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Verdict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330"/>
                          </a:solidFill>
                        </a:rPr>
                        <a:t>15a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Dual attention network (machine + job-machine attention) on 2 machines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Stopped before completion to test the architecture on one machine first.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0A100"/>
                          </a:solidFill>
                        </a:rPr>
                        <a:t>Stopped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330"/>
                          </a:solidFill>
                        </a:rPr>
                        <a:t>15b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Same network on 1 machine (machine attention is a no-op there)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Ties 82.00% to 75.74%; PPO wins 707 to 844 and SJF wins 193 to 369. Margin +0.97%.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Not adopted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330"/>
                          </a:solidFill>
                        </a:rPr>
                        <a:t>15c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Gated cross-attention (LayerScale), 1M steps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Ties 84.36%, SJF wins only 158, margin +0.79%. Gate worked; run got half the steps, so unproven.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Not adopted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log-note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More decisive, not more accurate: both wins and losses rose together in 15b.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Earlier packing tasks (#16 to #21)</a:t>
            </a:r>
            <a:endParaRPr lang="en-US" sz="3000" dirty="0"/>
          </a:p>
        </p:txBody>
      </p:sp>
      <p:graphicFrame>
        <p:nvGraphicFramePr>
          <p:cNvPr id="12" name="log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651760"/>
                <a:gridCol w="4114800"/>
                <a:gridCol w="10058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Experiment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Verdict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330"/>
                          </a:solidFill>
                        </a:rPr>
                        <a:t>16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Random per-job usage 10 to 50% (E2); compare against the old SJF baseline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+1.01% only against the old exclusive-occupation baseline; gamma = 1.0 gave −18.07%.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C6B7A"/>
                          </a:solidFill>
                        </a:rPr>
                        <a:t>Neutral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330"/>
                          </a:solidFill>
                        </a:rPr>
                        <a:t>17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Fresh SJF baseline, no usage feature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SJF won 97.42%, margin −154.14%: the policy could not see what fits.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C6B7A"/>
                          </a:solidFill>
                        </a:rPr>
                        <a:t>Neutral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330"/>
                          </a:solidFill>
                        </a:rPr>
                        <a:t>18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Add a usage feature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−54.43% recovered to −52.43%; SJF wins 97.42% to 85.92%.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5B"/>
                          </a:solidFill>
                        </a:rPr>
                        <a:t>Kept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330"/>
                          </a:solidFill>
                        </a:rPr>
                        <a:t>19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Longer training, fit_slack feature, narrower usage 40 to 60% (E3)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Margin −25.33%.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5B"/>
                          </a:solidFill>
                        </a:rPr>
                        <a:t>Kept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330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Explicit per-pair fit term in the scorer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Margin −15.77%: still behind SJF.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5B"/>
                          </a:solidFill>
                        </a:rPr>
                        <a:t>Kept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330"/>
                          </a:solidFill>
                        </a:rPr>
                        <a:t>21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Learned fit gate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Regression to −89.98%.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Reverted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log-note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This is the path that led to the E4 experiments.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E4 baselines: SJF and the optimal</a:t>
            </a:r>
            <a:endParaRPr lang="en-US" sz="3000" dirty="0"/>
          </a:p>
        </p:txBody>
      </p:sp>
      <p:sp>
        <p:nvSpPr>
          <p:cNvPr id="4" name="baseline-card-1"/>
          <p:cNvSpPr/>
          <p:nvPr/>
        </p:nvSpPr>
        <p:spPr>
          <a:xfrm>
            <a:off x="457200" y="118872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F1F5F9"/>
          </a:solidFill>
          <a:ln w="1905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8580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SJF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rjzcixv2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0116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−50.43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7432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mean reward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017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wait 10.09 · completion 16.33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3832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Always starts the shortest job that fits. The reference for every margin.</a:t>
            </a:r>
            <a:endParaRPr lang="en-US" sz="1400" dirty="0"/>
          </a:p>
        </p:txBody>
      </p:sp>
      <p:sp>
        <p:nvSpPr>
          <p:cNvPr id="11" name="baseline-card-2"/>
          <p:cNvSpPr/>
          <p:nvPr/>
        </p:nvSpPr>
        <p:spPr>
          <a:xfrm>
            <a:off x="4663440" y="118872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F1F5F9"/>
          </a:solidFill>
          <a:ln w="190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89204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optimal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489204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search script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892040" y="20116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−44.41</a:t>
            </a:r>
            <a:endParaRPr lang="en-US" sz="4400" dirty="0"/>
          </a:p>
        </p:txBody>
      </p:sp>
      <p:sp>
        <p:nvSpPr>
          <p:cNvPr id="15" name="Text 12"/>
          <p:cNvSpPr txBox="1"/>
          <p:nvPr/>
        </p:nvSpPr>
        <p:spPr>
          <a:xfrm>
            <a:off x="4892040" y="27432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mean reward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4892040" y="3017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wait 9.49 · completion 15.73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892040" y="33832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Searches every capacity-feasible subset at each arrival or completion. +11.9% over SJF: the ceiling.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Every PPO result that follows is measured against SJF on the same 5000 job sets.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M0: cannot see usage (control)</a:t>
            </a:r>
            <a:endParaRPr lang="en-US" sz="3000" dirty="0"/>
          </a:p>
        </p:txBody>
      </p:sp>
      <p:sp>
        <p:nvSpPr>
          <p:cNvPr id="4" name="stack-box-1"/>
          <p:cNvSpPr/>
          <p:nvPr/>
        </p:nvSpPr>
        <p:spPr>
          <a:xfrm>
            <a:off x="457200" y="10972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stack-text-1"/>
          <p:cNvSpPr txBox="1"/>
          <p:nvPr/>
        </p:nvSpPr>
        <p:spPr>
          <a:xfrm>
            <a:off x="548640" y="10972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Per-job input (20)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status, size, wait, ttl, arrival</a:t>
            </a:r>
            <a:endParaRPr lang="en-US" sz="1100" dirty="0"/>
          </a:p>
        </p:txBody>
      </p:sp>
      <p:sp>
        <p:nvSpPr>
          <p:cNvPr id="6" name="stack-arrow-1"/>
          <p:cNvSpPr/>
          <p:nvPr/>
        </p:nvSpPr>
        <p:spPr>
          <a:xfrm rot="10800000">
            <a:off x="2450592" y="14859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7" name="stack-box-2"/>
          <p:cNvSpPr/>
          <p:nvPr/>
        </p:nvSpPr>
        <p:spPr>
          <a:xfrm>
            <a:off x="457200" y="15544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stack-text-2"/>
          <p:cNvSpPr txBox="1"/>
          <p:nvPr/>
        </p:nvSpPr>
        <p:spPr>
          <a:xfrm>
            <a:off x="548640" y="15544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Job encoder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20 → 256 → 256, shared across jobs</a:t>
            </a:r>
            <a:endParaRPr lang="en-US" sz="1100" dirty="0"/>
          </a:p>
        </p:txBody>
      </p:sp>
      <p:sp>
        <p:nvSpPr>
          <p:cNvPr id="9" name="stack-arrow-2"/>
          <p:cNvSpPr/>
          <p:nvPr/>
        </p:nvSpPr>
        <p:spPr>
          <a:xfrm rot="10800000">
            <a:off x="2450592" y="19431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0" name="stack-box-3"/>
          <p:cNvSpPr/>
          <p:nvPr/>
        </p:nvSpPr>
        <p:spPr>
          <a:xfrm>
            <a:off x="457200" y="20116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stack-text-3"/>
          <p:cNvSpPr txBox="1"/>
          <p:nvPr/>
        </p:nvSpPr>
        <p:spPr>
          <a:xfrm>
            <a:off x="548640" y="20116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Attention pooling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weighted sum of jobs → global summary</a:t>
            </a:r>
            <a:endParaRPr lang="en-US" sz="1100" dirty="0"/>
          </a:p>
        </p:txBody>
      </p:sp>
      <p:sp>
        <p:nvSpPr>
          <p:cNvPr id="12" name="stack-arrow-3"/>
          <p:cNvSpPr/>
          <p:nvPr/>
        </p:nvSpPr>
        <p:spPr>
          <a:xfrm rot="10800000">
            <a:off x="2450592" y="24003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3" name="stack-box-4"/>
          <p:cNvSpPr/>
          <p:nvPr/>
        </p:nvSpPr>
        <p:spPr>
          <a:xfrm>
            <a:off x="457200" y="24688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stack-text-4"/>
          <p:cNvSpPr txBox="1"/>
          <p:nvPr/>
        </p:nvSpPr>
        <p:spPr>
          <a:xfrm>
            <a:off x="548640" y="24688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Scorer per job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[global | machine | job] 768 → 128 → 1</a:t>
            </a:r>
            <a:endParaRPr lang="en-US" sz="1100" dirty="0"/>
          </a:p>
        </p:txBody>
      </p:sp>
      <p:sp>
        <p:nvSpPr>
          <p:cNvPr id="15" name="stack-arrow-4"/>
          <p:cNvSpPr/>
          <p:nvPr/>
        </p:nvSpPr>
        <p:spPr>
          <a:xfrm rot="10800000">
            <a:off x="2450592" y="28575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6" name="stack-box-5"/>
          <p:cNvSpPr/>
          <p:nvPr/>
        </p:nvSpPr>
        <p:spPr>
          <a:xfrm>
            <a:off x="457200" y="29260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stack-text-5"/>
          <p:cNvSpPr txBox="1"/>
          <p:nvPr/>
        </p:nvSpPr>
        <p:spPr>
          <a:xfrm>
            <a:off x="548640" y="29260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11 action logits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skip + one per job, softmax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846320" y="10972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What changed</a:t>
            </a:r>
            <a:endParaRPr lang="en-US" sz="1200" dirty="0"/>
          </a:p>
        </p:txBody>
      </p:sp>
      <p:sp>
        <p:nvSpPr>
          <p:cNvPr id="19" name="change-text"/>
          <p:cNvSpPr txBox="1"/>
          <p:nvPr/>
        </p:nvSpPr>
        <p:spPr>
          <a:xfrm>
            <a:off x="4846320" y="13258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Nothing new. The E1 model run on E4, so it has no way to see job usage.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846320" y="21488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What we saw</a:t>
            </a:r>
            <a:endParaRPr lang="en-US" sz="1200" dirty="0"/>
          </a:p>
        </p:txBody>
      </p:sp>
      <p:sp>
        <p:nvSpPr>
          <p:cNvPr id="21" name="finding-text"/>
          <p:cNvSpPr txBox="1"/>
          <p:nvPr/>
        </p:nvSpPr>
        <p:spPr>
          <a:xfrm>
            <a:off x="4846320" y="23774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 cannot tell what fits, so it behaves like a one-job-at-a-time policy.</a:t>
            </a:r>
            <a:endParaRPr lang="en-US" sz="1400" dirty="0"/>
          </a:p>
        </p:txBody>
      </p:sp>
      <p:sp>
        <p:nvSpPr>
          <p:cNvPr id="22" name="result-card"/>
          <p:cNvSpPr/>
          <p:nvPr/>
        </p:nvSpPr>
        <p:spPr>
          <a:xfrm>
            <a:off x="4846320" y="3246120"/>
            <a:ext cx="3840480" cy="1417320"/>
          </a:xfrm>
          <a:prstGeom prst="roundRect">
            <a:avLst>
              <a:gd name="adj" fmla="val 6452"/>
            </a:avLst>
          </a:prstGeom>
          <a:solidFill>
            <a:srgbClr val="F1F5F9"/>
          </a:solidFill>
          <a:ln w="1905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result-margin"/>
          <p:cNvSpPr txBox="1"/>
          <p:nvPr/>
        </p:nvSpPr>
        <p:spPr>
          <a:xfrm>
            <a:off x="4983480" y="33192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−164.60%</a:t>
            </a:r>
            <a:endParaRPr lang="en-US" sz="3200" dirty="0"/>
          </a:p>
        </p:txBody>
      </p:sp>
      <p:sp>
        <p:nvSpPr>
          <p:cNvPr id="24" name="Text 21"/>
          <p:cNvSpPr txBox="1"/>
          <p:nvPr/>
        </p:nvSpPr>
        <p:spPr>
          <a:xfrm>
            <a:off x="4983480" y="384962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vs SJF (mean reward)</a:t>
            </a:r>
            <a:endParaRPr lang="en-US" sz="1000" dirty="0"/>
          </a:p>
        </p:txBody>
      </p:sp>
      <p:sp>
        <p:nvSpPr>
          <p:cNvPr id="25" name="result-details"/>
          <p:cNvSpPr txBox="1"/>
          <p:nvPr/>
        </p:nvSpPr>
        <p:spPr>
          <a:xfrm>
            <a:off x="6720840" y="33375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reward −133.44   wait 18.39   completion 24.63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wins 56 / SJF 4837 / ties 107</a:t>
            </a:r>
            <a:endParaRPr lang="en-US" sz="1100" dirty="0"/>
          </a:p>
        </p:txBody>
      </p:sp>
      <p:sp>
        <p:nvSpPr>
          <p:cNvPr id="26" name="result-note"/>
          <p:cNvSpPr txBox="1"/>
          <p:nvPr/>
        </p:nvSpPr>
        <p:spPr>
          <a:xfrm>
            <a:off x="4983480" y="4160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Run cf2zhwti</a:t>
            </a:r>
            <a:endParaRPr lang="en-US" sz="1100" dirty="0"/>
          </a:p>
        </p:txBody>
      </p:sp>
      <p:sp>
        <p:nvSpPr>
          <p:cNvPr id="27" name="legend-new"/>
          <p:cNvSpPr/>
          <p:nvPr/>
        </p:nvSpPr>
        <p:spPr>
          <a:xfrm>
            <a:off x="457200" y="4754880"/>
            <a:ext cx="182880" cy="137160"/>
          </a:xfrm>
          <a:prstGeom prst="roundRect">
            <a:avLst>
              <a:gd name="adj" fmla="val 20000"/>
            </a:avLst>
          </a:prstGeom>
          <a:solidFill>
            <a:srgbClr val="DDF3E6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85800" y="4709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changed in this model</a:t>
            </a:r>
            <a:endParaRPr lang="en-US" sz="1000" dirty="0"/>
          </a:p>
        </p:txBody>
      </p:sp>
      <p:sp>
        <p:nvSpPr>
          <p:cNvPr id="29" name="legend-old"/>
          <p:cNvSpPr/>
          <p:nvPr/>
        </p:nvSpPr>
        <p:spPr>
          <a:xfrm>
            <a:off x="2377440" y="4754880"/>
            <a:ext cx="182880" cy="137160"/>
          </a:xfrm>
          <a:prstGeom prst="roundRect">
            <a:avLst>
              <a:gd name="adj" fmla="val 20000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606040" y="47091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carried over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M5: usage as raw inputs</a:t>
            </a:r>
            <a:endParaRPr lang="en-US" sz="3000" dirty="0"/>
          </a:p>
        </p:txBody>
      </p:sp>
      <p:sp>
        <p:nvSpPr>
          <p:cNvPr id="4" name="stack-box-1"/>
          <p:cNvSpPr/>
          <p:nvPr/>
        </p:nvSpPr>
        <p:spPr>
          <a:xfrm>
            <a:off x="457200" y="10972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DDF3E6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5" name="stack-text-1"/>
          <p:cNvSpPr txBox="1"/>
          <p:nvPr/>
        </p:nvSpPr>
        <p:spPr>
          <a:xfrm>
            <a:off x="548640" y="10972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Per-job input (21)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M0 features + job usage / 255</a:t>
            </a:r>
            <a:endParaRPr lang="en-US" sz="1100" dirty="0"/>
          </a:p>
        </p:txBody>
      </p:sp>
      <p:sp>
        <p:nvSpPr>
          <p:cNvPr id="6" name="stack-arrow-1"/>
          <p:cNvSpPr/>
          <p:nvPr/>
        </p:nvSpPr>
        <p:spPr>
          <a:xfrm rot="10800000">
            <a:off x="2450592" y="14859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7" name="stack-box-2"/>
          <p:cNvSpPr/>
          <p:nvPr/>
        </p:nvSpPr>
        <p:spPr>
          <a:xfrm>
            <a:off x="457200" y="15544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DDF3E6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8" name="stack-text-2"/>
          <p:cNvSpPr txBox="1"/>
          <p:nvPr/>
        </p:nvSpPr>
        <p:spPr>
          <a:xfrm>
            <a:off x="548640" y="15544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Job encoder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21 → 256 → 256, now sees usage</a:t>
            </a:r>
            <a:endParaRPr lang="en-US" sz="1100" dirty="0"/>
          </a:p>
        </p:txBody>
      </p:sp>
      <p:sp>
        <p:nvSpPr>
          <p:cNvPr id="9" name="stack-arrow-2"/>
          <p:cNvSpPr/>
          <p:nvPr/>
        </p:nvSpPr>
        <p:spPr>
          <a:xfrm rot="10800000">
            <a:off x="2450592" y="19431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0" name="stack-box-3"/>
          <p:cNvSpPr/>
          <p:nvPr/>
        </p:nvSpPr>
        <p:spPr>
          <a:xfrm>
            <a:off x="457200" y="20116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stack-text-3"/>
          <p:cNvSpPr txBox="1"/>
          <p:nvPr/>
        </p:nvSpPr>
        <p:spPr>
          <a:xfrm>
            <a:off x="548640" y="20116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Attention pooling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weighted sum of jobs → global summary</a:t>
            </a:r>
            <a:endParaRPr lang="en-US" sz="1100" dirty="0"/>
          </a:p>
        </p:txBody>
      </p:sp>
      <p:sp>
        <p:nvSpPr>
          <p:cNvPr id="12" name="stack-arrow-3"/>
          <p:cNvSpPr/>
          <p:nvPr/>
        </p:nvSpPr>
        <p:spPr>
          <a:xfrm rot="10800000">
            <a:off x="2450592" y="24003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3" name="stack-box-4"/>
          <p:cNvSpPr/>
          <p:nvPr/>
        </p:nvSpPr>
        <p:spPr>
          <a:xfrm>
            <a:off x="457200" y="24688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DDF3E6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4" name="stack-text-4"/>
          <p:cNvSpPr txBox="1"/>
          <p:nvPr/>
        </p:nvSpPr>
        <p:spPr>
          <a:xfrm>
            <a:off x="548640" y="24688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Scorer per job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+ job usage + machine room: 770 → 128 → 1</a:t>
            </a:r>
            <a:endParaRPr lang="en-US" sz="1100" dirty="0"/>
          </a:p>
        </p:txBody>
      </p:sp>
      <p:sp>
        <p:nvSpPr>
          <p:cNvPr id="15" name="stack-arrow-4"/>
          <p:cNvSpPr/>
          <p:nvPr/>
        </p:nvSpPr>
        <p:spPr>
          <a:xfrm rot="10800000">
            <a:off x="2450592" y="28575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6" name="stack-box-5"/>
          <p:cNvSpPr/>
          <p:nvPr/>
        </p:nvSpPr>
        <p:spPr>
          <a:xfrm>
            <a:off x="457200" y="29260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stack-text-5"/>
          <p:cNvSpPr txBox="1"/>
          <p:nvPr/>
        </p:nvSpPr>
        <p:spPr>
          <a:xfrm>
            <a:off x="548640" y="29260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11 action logits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skip + one per job, softmax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846320" y="10972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Change vs M0</a:t>
            </a:r>
            <a:endParaRPr lang="en-US" sz="1200" dirty="0"/>
          </a:p>
        </p:txBody>
      </p:sp>
      <p:sp>
        <p:nvSpPr>
          <p:cNvPr id="19" name="change-text"/>
          <p:cNvSpPr txBox="1"/>
          <p:nvPr/>
        </p:nvSpPr>
        <p:spPr>
          <a:xfrm>
            <a:off x="4846320" y="13258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Job usage and machine room are given as plain numbers, to the encoder and the scorer.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846320" y="21488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What we saw</a:t>
            </a:r>
            <a:endParaRPr lang="en-US" sz="1200" dirty="0"/>
          </a:p>
        </p:txBody>
      </p:sp>
      <p:sp>
        <p:nvSpPr>
          <p:cNvPr id="21" name="finding-text"/>
          <p:cNvSpPr txBox="1"/>
          <p:nvPr/>
        </p:nvSpPr>
        <p:spPr>
          <a:xfrm>
            <a:off x="4846320" y="23774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Large recovery, from −164.6% to −45.8%, but still far behind SJF.</a:t>
            </a:r>
            <a:endParaRPr lang="en-US" sz="1400" dirty="0"/>
          </a:p>
        </p:txBody>
      </p:sp>
      <p:sp>
        <p:nvSpPr>
          <p:cNvPr id="22" name="result-card"/>
          <p:cNvSpPr/>
          <p:nvPr/>
        </p:nvSpPr>
        <p:spPr>
          <a:xfrm>
            <a:off x="4846320" y="3246120"/>
            <a:ext cx="3840480" cy="1417320"/>
          </a:xfrm>
          <a:prstGeom prst="roundRect">
            <a:avLst>
              <a:gd name="adj" fmla="val 6452"/>
            </a:avLst>
          </a:prstGeom>
          <a:solidFill>
            <a:srgbClr val="F1F5F9"/>
          </a:solidFill>
          <a:ln w="1905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result-margin"/>
          <p:cNvSpPr txBox="1"/>
          <p:nvPr/>
        </p:nvSpPr>
        <p:spPr>
          <a:xfrm>
            <a:off x="4983480" y="33192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−45.81%</a:t>
            </a:r>
            <a:endParaRPr lang="en-US" sz="3200" dirty="0"/>
          </a:p>
        </p:txBody>
      </p:sp>
      <p:sp>
        <p:nvSpPr>
          <p:cNvPr id="24" name="Text 21"/>
          <p:cNvSpPr txBox="1"/>
          <p:nvPr/>
        </p:nvSpPr>
        <p:spPr>
          <a:xfrm>
            <a:off x="4983480" y="384962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vs SJF (mean reward)</a:t>
            </a:r>
            <a:endParaRPr lang="en-US" sz="1000" dirty="0"/>
          </a:p>
        </p:txBody>
      </p:sp>
      <p:sp>
        <p:nvSpPr>
          <p:cNvPr id="25" name="result-details"/>
          <p:cNvSpPr txBox="1"/>
          <p:nvPr/>
        </p:nvSpPr>
        <p:spPr>
          <a:xfrm>
            <a:off x="6720840" y="33375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reward −73.53   wait 12.38   completion 18.62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wins 266 / SJF 4528 / ties 206</a:t>
            </a:r>
            <a:endParaRPr lang="en-US" sz="1100" dirty="0"/>
          </a:p>
        </p:txBody>
      </p:sp>
      <p:sp>
        <p:nvSpPr>
          <p:cNvPr id="26" name="result-note"/>
          <p:cNvSpPr txBox="1"/>
          <p:nvPr/>
        </p:nvSpPr>
        <p:spPr>
          <a:xfrm>
            <a:off x="4983480" y="4160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Run z4sayojp · failed starts 0.02 per episode</a:t>
            </a:r>
            <a:endParaRPr lang="en-US" sz="1100" dirty="0"/>
          </a:p>
        </p:txBody>
      </p:sp>
      <p:sp>
        <p:nvSpPr>
          <p:cNvPr id="27" name="legend-new"/>
          <p:cNvSpPr/>
          <p:nvPr/>
        </p:nvSpPr>
        <p:spPr>
          <a:xfrm>
            <a:off x="457200" y="4754880"/>
            <a:ext cx="182880" cy="137160"/>
          </a:xfrm>
          <a:prstGeom prst="roundRect">
            <a:avLst>
              <a:gd name="adj" fmla="val 20000"/>
            </a:avLst>
          </a:prstGeom>
          <a:solidFill>
            <a:srgbClr val="DDF3E6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85800" y="4709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changed in this model</a:t>
            </a:r>
            <a:endParaRPr lang="en-US" sz="1000" dirty="0"/>
          </a:p>
        </p:txBody>
      </p:sp>
      <p:sp>
        <p:nvSpPr>
          <p:cNvPr id="29" name="legend-old"/>
          <p:cNvSpPr/>
          <p:nvPr/>
        </p:nvSpPr>
        <p:spPr>
          <a:xfrm>
            <a:off x="2377440" y="4754880"/>
            <a:ext cx="182880" cy="137160"/>
          </a:xfrm>
          <a:prstGeom prst="roundRect">
            <a:avLst>
              <a:gd name="adj" fmla="val 20000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606040" y="47091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carried over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M6: fit attention</a:t>
            </a:r>
            <a:endParaRPr lang="en-US" sz="3000" dirty="0"/>
          </a:p>
        </p:txBody>
      </p:sp>
      <p:sp>
        <p:nvSpPr>
          <p:cNvPr id="4" name="stack-box-1"/>
          <p:cNvSpPr/>
          <p:nvPr/>
        </p:nvSpPr>
        <p:spPr>
          <a:xfrm>
            <a:off x="457200" y="10972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stack-text-1"/>
          <p:cNvSpPr txBox="1"/>
          <p:nvPr/>
        </p:nvSpPr>
        <p:spPr>
          <a:xfrm>
            <a:off x="548640" y="10972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Per-job input (20)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status, size, wait, ttl, arrival (no usage)</a:t>
            </a:r>
            <a:endParaRPr lang="en-US" sz="1100" dirty="0"/>
          </a:p>
        </p:txBody>
      </p:sp>
      <p:sp>
        <p:nvSpPr>
          <p:cNvPr id="6" name="stack-arrow-1"/>
          <p:cNvSpPr/>
          <p:nvPr/>
        </p:nvSpPr>
        <p:spPr>
          <a:xfrm rot="10800000">
            <a:off x="2450592" y="14859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7" name="stack-box-2"/>
          <p:cNvSpPr/>
          <p:nvPr/>
        </p:nvSpPr>
        <p:spPr>
          <a:xfrm>
            <a:off x="457200" y="15544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stack-text-2"/>
          <p:cNvSpPr txBox="1"/>
          <p:nvPr/>
        </p:nvSpPr>
        <p:spPr>
          <a:xfrm>
            <a:off x="548640" y="15544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Job encoder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20 → 256 → 256, shared across jobs</a:t>
            </a:r>
            <a:endParaRPr lang="en-US" sz="1100" dirty="0"/>
          </a:p>
        </p:txBody>
      </p:sp>
      <p:sp>
        <p:nvSpPr>
          <p:cNvPr id="9" name="stack-arrow-2"/>
          <p:cNvSpPr/>
          <p:nvPr/>
        </p:nvSpPr>
        <p:spPr>
          <a:xfrm rot="10800000">
            <a:off x="2450592" y="19431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0" name="stack-box-3"/>
          <p:cNvSpPr/>
          <p:nvPr/>
        </p:nvSpPr>
        <p:spPr>
          <a:xfrm>
            <a:off x="457200" y="20116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DDF3E6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1" name="stack-text-3"/>
          <p:cNvSpPr txBox="1"/>
          <p:nvPr/>
        </p:nvSpPr>
        <p:spPr>
          <a:xfrm>
            <a:off x="548640" y="20116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Fit attention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Q: job usage, K/V: machine room, sigmoid</a:t>
            </a:r>
            <a:endParaRPr lang="en-US" sz="1100" dirty="0"/>
          </a:p>
        </p:txBody>
      </p:sp>
      <p:sp>
        <p:nvSpPr>
          <p:cNvPr id="12" name="stack-arrow-3"/>
          <p:cNvSpPr/>
          <p:nvPr/>
        </p:nvSpPr>
        <p:spPr>
          <a:xfrm rot="10800000">
            <a:off x="2450592" y="24003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3" name="stack-box-4"/>
          <p:cNvSpPr/>
          <p:nvPr/>
        </p:nvSpPr>
        <p:spPr>
          <a:xfrm>
            <a:off x="457200" y="24688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DDF3E6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4" name="stack-text-4"/>
          <p:cNvSpPr txBox="1"/>
          <p:nvPr/>
        </p:nvSpPr>
        <p:spPr>
          <a:xfrm>
            <a:off x="548640" y="24688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Concat + project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[summary 256 | fit 64] → 256</a:t>
            </a:r>
            <a:endParaRPr lang="en-US" sz="1100" dirty="0"/>
          </a:p>
        </p:txBody>
      </p:sp>
      <p:sp>
        <p:nvSpPr>
          <p:cNvPr id="15" name="stack-arrow-4"/>
          <p:cNvSpPr/>
          <p:nvPr/>
        </p:nvSpPr>
        <p:spPr>
          <a:xfrm rot="10800000">
            <a:off x="2450592" y="28575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6" name="stack-box-5"/>
          <p:cNvSpPr/>
          <p:nvPr/>
        </p:nvSpPr>
        <p:spPr>
          <a:xfrm>
            <a:off x="457200" y="29260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stack-text-5"/>
          <p:cNvSpPr txBox="1"/>
          <p:nvPr/>
        </p:nvSpPr>
        <p:spPr>
          <a:xfrm>
            <a:off x="548640" y="29260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Attention pooling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weighted sum of jobs → global summary</a:t>
            </a:r>
            <a:endParaRPr lang="en-US" sz="1100" dirty="0"/>
          </a:p>
        </p:txBody>
      </p:sp>
      <p:sp>
        <p:nvSpPr>
          <p:cNvPr id="18" name="stack-arrow-5"/>
          <p:cNvSpPr/>
          <p:nvPr/>
        </p:nvSpPr>
        <p:spPr>
          <a:xfrm rot="10800000">
            <a:off x="2450592" y="33147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9" name="stack-box-6"/>
          <p:cNvSpPr/>
          <p:nvPr/>
        </p:nvSpPr>
        <p:spPr>
          <a:xfrm>
            <a:off x="457200" y="33832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stack-text-6"/>
          <p:cNvSpPr txBox="1"/>
          <p:nvPr/>
        </p:nvSpPr>
        <p:spPr>
          <a:xfrm>
            <a:off x="548640" y="33832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Scorer per job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[global | machine | job] 768 → 128 → 1</a:t>
            </a:r>
            <a:endParaRPr lang="en-US" sz="1100" dirty="0"/>
          </a:p>
        </p:txBody>
      </p:sp>
      <p:sp>
        <p:nvSpPr>
          <p:cNvPr id="21" name="stack-arrow-6"/>
          <p:cNvSpPr/>
          <p:nvPr/>
        </p:nvSpPr>
        <p:spPr>
          <a:xfrm rot="10800000">
            <a:off x="2450592" y="37719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22" name="stack-box-7"/>
          <p:cNvSpPr/>
          <p:nvPr/>
        </p:nvSpPr>
        <p:spPr>
          <a:xfrm>
            <a:off x="457200" y="38404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stack-text-7"/>
          <p:cNvSpPr txBox="1"/>
          <p:nvPr/>
        </p:nvSpPr>
        <p:spPr>
          <a:xfrm>
            <a:off x="548640" y="38404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11 action logits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skip + one per job, softmax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4846320" y="10972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Change vs M5</a:t>
            </a:r>
            <a:endParaRPr lang="en-US" sz="1200" dirty="0"/>
          </a:p>
        </p:txBody>
      </p:sp>
      <p:sp>
        <p:nvSpPr>
          <p:cNvPr id="25" name="change-text"/>
          <p:cNvSpPr txBox="1"/>
          <p:nvPr/>
        </p:nvSpPr>
        <p:spPr>
          <a:xfrm>
            <a:off x="4846320" y="13258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Usage leaves the encoder. A fit attention pairs each job's usage with the machine's room.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4846320" y="21488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What we saw</a:t>
            </a:r>
            <a:endParaRPr lang="en-US" sz="1200" dirty="0"/>
          </a:p>
        </p:txBody>
      </p:sp>
      <p:sp>
        <p:nvSpPr>
          <p:cNvPr id="27" name="finding-text"/>
          <p:cNvSpPr txBox="1"/>
          <p:nvPr/>
        </p:nvSpPr>
        <p:spPr>
          <a:xfrm>
            <a:off x="4846320" y="23774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Pairing the two numbers beats feeding them separately: −45.8% to −37.0%.</a:t>
            </a:r>
            <a:endParaRPr lang="en-US" sz="1400" dirty="0"/>
          </a:p>
        </p:txBody>
      </p:sp>
      <p:sp>
        <p:nvSpPr>
          <p:cNvPr id="28" name="result-card"/>
          <p:cNvSpPr/>
          <p:nvPr/>
        </p:nvSpPr>
        <p:spPr>
          <a:xfrm>
            <a:off x="4846320" y="3246120"/>
            <a:ext cx="3840480" cy="1417320"/>
          </a:xfrm>
          <a:prstGeom prst="roundRect">
            <a:avLst>
              <a:gd name="adj" fmla="val 6452"/>
            </a:avLst>
          </a:prstGeom>
          <a:solidFill>
            <a:srgbClr val="F1F5F9"/>
          </a:solidFill>
          <a:ln w="1905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result-margin"/>
          <p:cNvSpPr txBox="1"/>
          <p:nvPr/>
        </p:nvSpPr>
        <p:spPr>
          <a:xfrm>
            <a:off x="4983480" y="33192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−36.98%</a:t>
            </a:r>
            <a:endParaRPr lang="en-US" sz="3200" dirty="0"/>
          </a:p>
        </p:txBody>
      </p:sp>
      <p:sp>
        <p:nvSpPr>
          <p:cNvPr id="30" name="Text 27"/>
          <p:cNvSpPr txBox="1"/>
          <p:nvPr/>
        </p:nvSpPr>
        <p:spPr>
          <a:xfrm>
            <a:off x="4983480" y="384962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vs SJF (mean reward)</a:t>
            </a:r>
            <a:endParaRPr lang="en-US" sz="1000" dirty="0"/>
          </a:p>
        </p:txBody>
      </p:sp>
      <p:sp>
        <p:nvSpPr>
          <p:cNvPr id="31" name="result-details"/>
          <p:cNvSpPr txBox="1"/>
          <p:nvPr/>
        </p:nvSpPr>
        <p:spPr>
          <a:xfrm>
            <a:off x="6720840" y="33375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reward −69.07   wait 11.60   completion 17.83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wins 497 / SJF 4125 / ties 378</a:t>
            </a:r>
            <a:endParaRPr lang="en-US" sz="1100" dirty="0"/>
          </a:p>
        </p:txBody>
      </p:sp>
      <p:sp>
        <p:nvSpPr>
          <p:cNvPr id="32" name="result-note"/>
          <p:cNvSpPr txBox="1"/>
          <p:nvPr/>
        </p:nvSpPr>
        <p:spPr>
          <a:xfrm>
            <a:off x="4983480" y="4160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Run iusicvre · failed starts 0.34 per episode</a:t>
            </a:r>
            <a:endParaRPr lang="en-US" sz="1100" dirty="0"/>
          </a:p>
        </p:txBody>
      </p:sp>
      <p:sp>
        <p:nvSpPr>
          <p:cNvPr id="33" name="legend-new"/>
          <p:cNvSpPr/>
          <p:nvPr/>
        </p:nvSpPr>
        <p:spPr>
          <a:xfrm>
            <a:off x="457200" y="4754880"/>
            <a:ext cx="182880" cy="137160"/>
          </a:xfrm>
          <a:prstGeom prst="roundRect">
            <a:avLst>
              <a:gd name="adj" fmla="val 20000"/>
            </a:avLst>
          </a:prstGeom>
          <a:solidFill>
            <a:srgbClr val="DDF3E6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85800" y="4709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changed in this model</a:t>
            </a:r>
            <a:endParaRPr lang="en-US" sz="1000" dirty="0"/>
          </a:p>
        </p:txBody>
      </p:sp>
      <p:sp>
        <p:nvSpPr>
          <p:cNvPr id="35" name="legend-old"/>
          <p:cNvSpPr/>
          <p:nvPr/>
        </p:nvSpPr>
        <p:spPr>
          <a:xfrm>
            <a:off x="2377440" y="4754880"/>
            <a:ext cx="182880" cy="137160"/>
          </a:xfrm>
          <a:prstGeom prst="roundRect">
            <a:avLst>
              <a:gd name="adj" fmla="val 20000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2606040" y="47091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carried over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M7: job self-attention</a:t>
            </a:r>
            <a:endParaRPr lang="en-US" sz="3000" dirty="0"/>
          </a:p>
        </p:txBody>
      </p:sp>
      <p:sp>
        <p:nvSpPr>
          <p:cNvPr id="4" name="stack-box-1"/>
          <p:cNvSpPr/>
          <p:nvPr/>
        </p:nvSpPr>
        <p:spPr>
          <a:xfrm>
            <a:off x="457200" y="10972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stack-text-1"/>
          <p:cNvSpPr txBox="1"/>
          <p:nvPr/>
        </p:nvSpPr>
        <p:spPr>
          <a:xfrm>
            <a:off x="548640" y="10972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Per-job input (20)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status, size, wait, ttl, arrival (no usage)</a:t>
            </a:r>
            <a:endParaRPr lang="en-US" sz="1100" dirty="0"/>
          </a:p>
        </p:txBody>
      </p:sp>
      <p:sp>
        <p:nvSpPr>
          <p:cNvPr id="6" name="stack-arrow-1"/>
          <p:cNvSpPr/>
          <p:nvPr/>
        </p:nvSpPr>
        <p:spPr>
          <a:xfrm rot="10800000">
            <a:off x="2450592" y="14859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7" name="stack-box-2"/>
          <p:cNvSpPr/>
          <p:nvPr/>
        </p:nvSpPr>
        <p:spPr>
          <a:xfrm>
            <a:off x="457200" y="15544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stack-text-2"/>
          <p:cNvSpPr txBox="1"/>
          <p:nvPr/>
        </p:nvSpPr>
        <p:spPr>
          <a:xfrm>
            <a:off x="548640" y="15544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Job encoder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20 → 256 → 256, shared across jobs</a:t>
            </a:r>
            <a:endParaRPr lang="en-US" sz="1100" dirty="0"/>
          </a:p>
        </p:txBody>
      </p:sp>
      <p:sp>
        <p:nvSpPr>
          <p:cNvPr id="9" name="stack-arrow-2"/>
          <p:cNvSpPr/>
          <p:nvPr/>
        </p:nvSpPr>
        <p:spPr>
          <a:xfrm rot="10800000">
            <a:off x="2450592" y="19431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0" name="stack-box-3"/>
          <p:cNvSpPr/>
          <p:nvPr/>
        </p:nvSpPr>
        <p:spPr>
          <a:xfrm>
            <a:off x="457200" y="20116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stack-text-3"/>
          <p:cNvSpPr txBox="1"/>
          <p:nvPr/>
        </p:nvSpPr>
        <p:spPr>
          <a:xfrm>
            <a:off x="548640" y="20116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Fit attention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Q: job usage, K/V: machine room, sigmoid</a:t>
            </a:r>
            <a:endParaRPr lang="en-US" sz="1100" dirty="0"/>
          </a:p>
        </p:txBody>
      </p:sp>
      <p:sp>
        <p:nvSpPr>
          <p:cNvPr id="12" name="stack-arrow-3"/>
          <p:cNvSpPr/>
          <p:nvPr/>
        </p:nvSpPr>
        <p:spPr>
          <a:xfrm rot="10800000">
            <a:off x="2450592" y="24003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3" name="stack-box-4"/>
          <p:cNvSpPr/>
          <p:nvPr/>
        </p:nvSpPr>
        <p:spPr>
          <a:xfrm>
            <a:off x="457200" y="24688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stack-text-4"/>
          <p:cNvSpPr txBox="1"/>
          <p:nvPr/>
        </p:nvSpPr>
        <p:spPr>
          <a:xfrm>
            <a:off x="548640" y="24688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Concat + project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[summary 256 | fit 64] → 256</a:t>
            </a:r>
            <a:endParaRPr lang="en-US" sz="1100" dirty="0"/>
          </a:p>
        </p:txBody>
      </p:sp>
      <p:sp>
        <p:nvSpPr>
          <p:cNvPr id="15" name="stack-arrow-4"/>
          <p:cNvSpPr/>
          <p:nvPr/>
        </p:nvSpPr>
        <p:spPr>
          <a:xfrm rot="10800000">
            <a:off x="2450592" y="28575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6" name="stack-box-5"/>
          <p:cNvSpPr/>
          <p:nvPr/>
        </p:nvSpPr>
        <p:spPr>
          <a:xfrm>
            <a:off x="457200" y="29260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DDF3E6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7" name="stack-text-5"/>
          <p:cNvSpPr txBox="1"/>
          <p:nvPr/>
        </p:nvSpPr>
        <p:spPr>
          <a:xfrm>
            <a:off x="548640" y="29260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Job self-attention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4 heads, finished jobs masked</a:t>
            </a:r>
            <a:endParaRPr lang="en-US" sz="1100" dirty="0"/>
          </a:p>
        </p:txBody>
      </p:sp>
      <p:sp>
        <p:nvSpPr>
          <p:cNvPr id="18" name="stack-arrow-5"/>
          <p:cNvSpPr/>
          <p:nvPr/>
        </p:nvSpPr>
        <p:spPr>
          <a:xfrm rot="10800000">
            <a:off x="2450592" y="33147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9" name="stack-box-6"/>
          <p:cNvSpPr/>
          <p:nvPr/>
        </p:nvSpPr>
        <p:spPr>
          <a:xfrm>
            <a:off x="457200" y="33832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stack-text-6"/>
          <p:cNvSpPr txBox="1"/>
          <p:nvPr/>
        </p:nvSpPr>
        <p:spPr>
          <a:xfrm>
            <a:off x="548640" y="33832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Attention pooling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weighted sum of jobs → global summary</a:t>
            </a:r>
            <a:endParaRPr lang="en-US" sz="1100" dirty="0"/>
          </a:p>
        </p:txBody>
      </p:sp>
      <p:sp>
        <p:nvSpPr>
          <p:cNvPr id="21" name="stack-arrow-6"/>
          <p:cNvSpPr/>
          <p:nvPr/>
        </p:nvSpPr>
        <p:spPr>
          <a:xfrm rot="10800000">
            <a:off x="2450592" y="37719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22" name="stack-box-7"/>
          <p:cNvSpPr/>
          <p:nvPr/>
        </p:nvSpPr>
        <p:spPr>
          <a:xfrm>
            <a:off x="457200" y="38404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stack-text-7"/>
          <p:cNvSpPr txBox="1"/>
          <p:nvPr/>
        </p:nvSpPr>
        <p:spPr>
          <a:xfrm>
            <a:off x="548640" y="38404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Scorer per job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[global | machine | job] 768 → 128 → 1</a:t>
            </a:r>
            <a:endParaRPr lang="en-US" sz="1100" dirty="0"/>
          </a:p>
        </p:txBody>
      </p:sp>
      <p:sp>
        <p:nvSpPr>
          <p:cNvPr id="24" name="stack-arrow-7"/>
          <p:cNvSpPr/>
          <p:nvPr/>
        </p:nvSpPr>
        <p:spPr>
          <a:xfrm rot="10800000">
            <a:off x="2450592" y="42291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25" name="stack-box-8"/>
          <p:cNvSpPr/>
          <p:nvPr/>
        </p:nvSpPr>
        <p:spPr>
          <a:xfrm>
            <a:off x="457200" y="42976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stack-text-8"/>
          <p:cNvSpPr txBox="1"/>
          <p:nvPr/>
        </p:nvSpPr>
        <p:spPr>
          <a:xfrm>
            <a:off x="548640" y="42976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11 action logits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skip + one per job, softmax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4846320" y="10972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Change vs M6</a:t>
            </a:r>
            <a:endParaRPr lang="en-US" sz="1200" dirty="0"/>
          </a:p>
        </p:txBody>
      </p:sp>
      <p:sp>
        <p:nvSpPr>
          <p:cNvPr id="28" name="change-text"/>
          <p:cNvSpPr txBox="1"/>
          <p:nvPr/>
        </p:nvSpPr>
        <p:spPr>
          <a:xfrm>
            <a:off x="4846320" y="13258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job attends to every other job (4 heads, finished jobs masked) after the fit step.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4846320" y="21488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What we saw</a:t>
            </a:r>
            <a:endParaRPr lang="en-US" sz="1200" dirty="0"/>
          </a:p>
        </p:txBody>
      </p:sp>
      <p:sp>
        <p:nvSpPr>
          <p:cNvPr id="30" name="finding-text"/>
          <p:cNvSpPr txBox="1"/>
          <p:nvPr/>
        </p:nvSpPr>
        <p:spPr>
          <a:xfrm>
            <a:off x="4846320" y="23774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SJF's rule is relative to other jobs. This was the biggest jump before the mask: −37.0% to −16.9%.</a:t>
            </a:r>
            <a:endParaRPr lang="en-US" sz="1400" dirty="0"/>
          </a:p>
        </p:txBody>
      </p:sp>
      <p:sp>
        <p:nvSpPr>
          <p:cNvPr id="31" name="result-card"/>
          <p:cNvSpPr/>
          <p:nvPr/>
        </p:nvSpPr>
        <p:spPr>
          <a:xfrm>
            <a:off x="4846320" y="3246120"/>
            <a:ext cx="3840480" cy="1417320"/>
          </a:xfrm>
          <a:prstGeom prst="roundRect">
            <a:avLst>
              <a:gd name="adj" fmla="val 6452"/>
            </a:avLst>
          </a:prstGeom>
          <a:solidFill>
            <a:srgbClr val="F1F5F9"/>
          </a:solidFill>
          <a:ln w="1905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result-margin"/>
          <p:cNvSpPr txBox="1"/>
          <p:nvPr/>
        </p:nvSpPr>
        <p:spPr>
          <a:xfrm>
            <a:off x="4983480" y="33192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−16.87%</a:t>
            </a:r>
            <a:endParaRPr lang="en-US" sz="3200" dirty="0"/>
          </a:p>
        </p:txBody>
      </p:sp>
      <p:sp>
        <p:nvSpPr>
          <p:cNvPr id="33" name="Text 30"/>
          <p:cNvSpPr txBox="1"/>
          <p:nvPr/>
        </p:nvSpPr>
        <p:spPr>
          <a:xfrm>
            <a:off x="4983480" y="384962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vs SJF (mean reward)</a:t>
            </a:r>
            <a:endParaRPr lang="en-US" sz="1000" dirty="0"/>
          </a:p>
        </p:txBody>
      </p:sp>
      <p:sp>
        <p:nvSpPr>
          <p:cNvPr id="34" name="result-details"/>
          <p:cNvSpPr txBox="1"/>
          <p:nvPr/>
        </p:nvSpPr>
        <p:spPr>
          <a:xfrm>
            <a:off x="6720840" y="33375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reward −58.94   wait 10.83   completion 17.07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wins 855 / SJF 3105 / ties 1040</a:t>
            </a:r>
            <a:endParaRPr lang="en-US" sz="1100" dirty="0"/>
          </a:p>
        </p:txBody>
      </p:sp>
      <p:sp>
        <p:nvSpPr>
          <p:cNvPr id="35" name="result-note"/>
          <p:cNvSpPr txBox="1"/>
          <p:nvPr/>
        </p:nvSpPr>
        <p:spPr>
          <a:xfrm>
            <a:off x="4983480" y="4160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Run emt46quc · failed starts 0.06 per episode</a:t>
            </a:r>
            <a:endParaRPr lang="en-US" sz="1100" dirty="0"/>
          </a:p>
        </p:txBody>
      </p:sp>
      <p:sp>
        <p:nvSpPr>
          <p:cNvPr id="36" name="legend-new"/>
          <p:cNvSpPr/>
          <p:nvPr/>
        </p:nvSpPr>
        <p:spPr>
          <a:xfrm>
            <a:off x="457200" y="4754880"/>
            <a:ext cx="182880" cy="137160"/>
          </a:xfrm>
          <a:prstGeom prst="roundRect">
            <a:avLst>
              <a:gd name="adj" fmla="val 20000"/>
            </a:avLst>
          </a:prstGeom>
          <a:solidFill>
            <a:srgbClr val="DDF3E6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85800" y="4709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changed in this model</a:t>
            </a:r>
            <a:endParaRPr lang="en-US" sz="1000" dirty="0"/>
          </a:p>
        </p:txBody>
      </p:sp>
      <p:sp>
        <p:nvSpPr>
          <p:cNvPr id="38" name="legend-old"/>
          <p:cNvSpPr/>
          <p:nvPr/>
        </p:nvSpPr>
        <p:spPr>
          <a:xfrm>
            <a:off x="2377440" y="4754880"/>
            <a:ext cx="182880" cy="137160"/>
          </a:xfrm>
          <a:prstGeom prst="roundRect">
            <a:avLst>
              <a:gd name="adj" fmla="val 20000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2606040" y="47091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carried over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M8: multiply instead of concat</a:t>
            </a:r>
            <a:endParaRPr lang="en-US" sz="3000" dirty="0"/>
          </a:p>
        </p:txBody>
      </p:sp>
      <p:sp>
        <p:nvSpPr>
          <p:cNvPr id="4" name="stack-box-1"/>
          <p:cNvSpPr/>
          <p:nvPr/>
        </p:nvSpPr>
        <p:spPr>
          <a:xfrm>
            <a:off x="457200" y="10972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stack-text-1"/>
          <p:cNvSpPr txBox="1"/>
          <p:nvPr/>
        </p:nvSpPr>
        <p:spPr>
          <a:xfrm>
            <a:off x="548640" y="10972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Per-job input (20)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status, size, wait, ttl, arrival (no usage)</a:t>
            </a:r>
            <a:endParaRPr lang="en-US" sz="1100" dirty="0"/>
          </a:p>
        </p:txBody>
      </p:sp>
      <p:sp>
        <p:nvSpPr>
          <p:cNvPr id="6" name="stack-arrow-1"/>
          <p:cNvSpPr/>
          <p:nvPr/>
        </p:nvSpPr>
        <p:spPr>
          <a:xfrm rot="10800000">
            <a:off x="2450592" y="14859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7" name="stack-box-2"/>
          <p:cNvSpPr/>
          <p:nvPr/>
        </p:nvSpPr>
        <p:spPr>
          <a:xfrm>
            <a:off x="457200" y="15544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stack-text-2"/>
          <p:cNvSpPr txBox="1"/>
          <p:nvPr/>
        </p:nvSpPr>
        <p:spPr>
          <a:xfrm>
            <a:off x="548640" y="15544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Job encoder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20 → 256 → 256, shared across jobs</a:t>
            </a:r>
            <a:endParaRPr lang="en-US" sz="1100" dirty="0"/>
          </a:p>
        </p:txBody>
      </p:sp>
      <p:sp>
        <p:nvSpPr>
          <p:cNvPr id="9" name="stack-arrow-2"/>
          <p:cNvSpPr/>
          <p:nvPr/>
        </p:nvSpPr>
        <p:spPr>
          <a:xfrm rot="10800000">
            <a:off x="2450592" y="19431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0" name="stack-box-3"/>
          <p:cNvSpPr/>
          <p:nvPr/>
        </p:nvSpPr>
        <p:spPr>
          <a:xfrm>
            <a:off x="457200" y="20116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stack-text-3"/>
          <p:cNvSpPr txBox="1"/>
          <p:nvPr/>
        </p:nvSpPr>
        <p:spPr>
          <a:xfrm>
            <a:off x="548640" y="20116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Fit attention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Q: job usage, K/V: machine room, sigmoid</a:t>
            </a:r>
            <a:endParaRPr lang="en-US" sz="1100" dirty="0"/>
          </a:p>
        </p:txBody>
      </p:sp>
      <p:sp>
        <p:nvSpPr>
          <p:cNvPr id="12" name="stack-arrow-3"/>
          <p:cNvSpPr/>
          <p:nvPr/>
        </p:nvSpPr>
        <p:spPr>
          <a:xfrm rot="10800000">
            <a:off x="2450592" y="24003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3" name="stack-box-4"/>
          <p:cNvSpPr/>
          <p:nvPr/>
        </p:nvSpPr>
        <p:spPr>
          <a:xfrm>
            <a:off x="457200" y="24688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DDF3E6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4" name="stack-text-4"/>
          <p:cNvSpPr txBox="1"/>
          <p:nvPr/>
        </p:nvSpPr>
        <p:spPr>
          <a:xfrm>
            <a:off x="548640" y="24688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Multiply per channel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summary × (1 + tanh(Linear(fit)))</a:t>
            </a:r>
            <a:endParaRPr lang="en-US" sz="1100" dirty="0"/>
          </a:p>
        </p:txBody>
      </p:sp>
      <p:sp>
        <p:nvSpPr>
          <p:cNvPr id="15" name="stack-arrow-4"/>
          <p:cNvSpPr/>
          <p:nvPr/>
        </p:nvSpPr>
        <p:spPr>
          <a:xfrm rot="10800000">
            <a:off x="2450592" y="28575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6" name="stack-box-5"/>
          <p:cNvSpPr/>
          <p:nvPr/>
        </p:nvSpPr>
        <p:spPr>
          <a:xfrm>
            <a:off x="457200" y="29260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stack-text-5"/>
          <p:cNvSpPr txBox="1"/>
          <p:nvPr/>
        </p:nvSpPr>
        <p:spPr>
          <a:xfrm>
            <a:off x="548640" y="29260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Job self-attention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4 heads, finished jobs masked</a:t>
            </a:r>
            <a:endParaRPr lang="en-US" sz="1100" dirty="0"/>
          </a:p>
        </p:txBody>
      </p:sp>
      <p:sp>
        <p:nvSpPr>
          <p:cNvPr id="18" name="stack-arrow-5"/>
          <p:cNvSpPr/>
          <p:nvPr/>
        </p:nvSpPr>
        <p:spPr>
          <a:xfrm rot="10800000">
            <a:off x="2450592" y="33147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9" name="stack-box-6"/>
          <p:cNvSpPr/>
          <p:nvPr/>
        </p:nvSpPr>
        <p:spPr>
          <a:xfrm>
            <a:off x="457200" y="33832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stack-text-6"/>
          <p:cNvSpPr txBox="1"/>
          <p:nvPr/>
        </p:nvSpPr>
        <p:spPr>
          <a:xfrm>
            <a:off x="548640" y="33832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Attention pooling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weighted sum of jobs → global summary</a:t>
            </a:r>
            <a:endParaRPr lang="en-US" sz="1100" dirty="0"/>
          </a:p>
        </p:txBody>
      </p:sp>
      <p:sp>
        <p:nvSpPr>
          <p:cNvPr id="21" name="stack-arrow-6"/>
          <p:cNvSpPr/>
          <p:nvPr/>
        </p:nvSpPr>
        <p:spPr>
          <a:xfrm rot="10800000">
            <a:off x="2450592" y="37719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22" name="stack-box-7"/>
          <p:cNvSpPr/>
          <p:nvPr/>
        </p:nvSpPr>
        <p:spPr>
          <a:xfrm>
            <a:off x="457200" y="38404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stack-text-7"/>
          <p:cNvSpPr txBox="1"/>
          <p:nvPr/>
        </p:nvSpPr>
        <p:spPr>
          <a:xfrm>
            <a:off x="548640" y="38404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Scorer per job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[global | machine | job] 768 → 128 → 1</a:t>
            </a:r>
            <a:endParaRPr lang="en-US" sz="1100" dirty="0"/>
          </a:p>
        </p:txBody>
      </p:sp>
      <p:sp>
        <p:nvSpPr>
          <p:cNvPr id="24" name="stack-arrow-7"/>
          <p:cNvSpPr/>
          <p:nvPr/>
        </p:nvSpPr>
        <p:spPr>
          <a:xfrm rot="10800000">
            <a:off x="2450592" y="42291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25" name="stack-box-8"/>
          <p:cNvSpPr/>
          <p:nvPr/>
        </p:nvSpPr>
        <p:spPr>
          <a:xfrm>
            <a:off x="457200" y="42976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stack-text-8"/>
          <p:cNvSpPr txBox="1"/>
          <p:nvPr/>
        </p:nvSpPr>
        <p:spPr>
          <a:xfrm>
            <a:off x="548640" y="42976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11 action logits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skip + one per job, softmax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4846320" y="10972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Change vs M7</a:t>
            </a:r>
            <a:endParaRPr lang="en-US" sz="1200" dirty="0"/>
          </a:p>
        </p:txBody>
      </p:sp>
      <p:sp>
        <p:nvSpPr>
          <p:cNvPr id="28" name="change-text"/>
          <p:cNvSpPr txBox="1"/>
          <p:nvPr/>
        </p:nvSpPr>
        <p:spPr>
          <a:xfrm>
            <a:off x="4846320" y="13258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fit output scales each channel of the job summary instead of being concatenated.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4846320" y="21488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What we saw</a:t>
            </a:r>
            <a:endParaRPr lang="en-US" sz="1200" dirty="0"/>
          </a:p>
        </p:txBody>
      </p:sp>
      <p:sp>
        <p:nvSpPr>
          <p:cNvPr id="30" name="finding-text"/>
          <p:cNvSpPr txBox="1"/>
          <p:nvPr/>
        </p:nvSpPr>
        <p:spPr>
          <a:xfrm>
            <a:off x="4846320" y="23774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Worse than M7 at −25.3%, within the ~10-point seed noise. No benefit shown; rolled back.</a:t>
            </a:r>
            <a:endParaRPr lang="en-US" sz="1400" dirty="0"/>
          </a:p>
        </p:txBody>
      </p:sp>
      <p:sp>
        <p:nvSpPr>
          <p:cNvPr id="31" name="result-card"/>
          <p:cNvSpPr/>
          <p:nvPr/>
        </p:nvSpPr>
        <p:spPr>
          <a:xfrm>
            <a:off x="4846320" y="3246120"/>
            <a:ext cx="3840480" cy="1417320"/>
          </a:xfrm>
          <a:prstGeom prst="roundRect">
            <a:avLst>
              <a:gd name="adj" fmla="val 6452"/>
            </a:avLst>
          </a:prstGeom>
          <a:solidFill>
            <a:srgbClr val="F1F5F9"/>
          </a:solidFill>
          <a:ln w="1905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result-margin"/>
          <p:cNvSpPr txBox="1"/>
          <p:nvPr/>
        </p:nvSpPr>
        <p:spPr>
          <a:xfrm>
            <a:off x="4983480" y="33192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−25.30%</a:t>
            </a:r>
            <a:endParaRPr lang="en-US" sz="3200" dirty="0"/>
          </a:p>
        </p:txBody>
      </p:sp>
      <p:sp>
        <p:nvSpPr>
          <p:cNvPr id="33" name="Text 30"/>
          <p:cNvSpPr txBox="1"/>
          <p:nvPr/>
        </p:nvSpPr>
        <p:spPr>
          <a:xfrm>
            <a:off x="4983480" y="384962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vs SJF (mean reward)</a:t>
            </a:r>
            <a:endParaRPr lang="en-US" sz="1000" dirty="0"/>
          </a:p>
        </p:txBody>
      </p:sp>
      <p:sp>
        <p:nvSpPr>
          <p:cNvPr id="34" name="result-details"/>
          <p:cNvSpPr txBox="1"/>
          <p:nvPr/>
        </p:nvSpPr>
        <p:spPr>
          <a:xfrm>
            <a:off x="6720840" y="33375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reward −63.20   wait 11.36   completion 17.60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wins 483 / SJF 3841 / ties 676</a:t>
            </a:r>
            <a:endParaRPr lang="en-US" sz="1100" dirty="0"/>
          </a:p>
        </p:txBody>
      </p:sp>
      <p:sp>
        <p:nvSpPr>
          <p:cNvPr id="35" name="result-note"/>
          <p:cNvSpPr txBox="1"/>
          <p:nvPr/>
        </p:nvSpPr>
        <p:spPr>
          <a:xfrm>
            <a:off x="4983480" y="4160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Run bv1hk6lb · failed starts 0.003 per episode</a:t>
            </a:r>
            <a:endParaRPr lang="en-US" sz="1100" dirty="0"/>
          </a:p>
        </p:txBody>
      </p:sp>
      <p:sp>
        <p:nvSpPr>
          <p:cNvPr id="36" name="legend-new"/>
          <p:cNvSpPr/>
          <p:nvPr/>
        </p:nvSpPr>
        <p:spPr>
          <a:xfrm>
            <a:off x="457200" y="4754880"/>
            <a:ext cx="182880" cy="137160"/>
          </a:xfrm>
          <a:prstGeom prst="roundRect">
            <a:avLst>
              <a:gd name="adj" fmla="val 20000"/>
            </a:avLst>
          </a:prstGeom>
          <a:solidFill>
            <a:srgbClr val="DDF3E6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85800" y="4709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changed in this model</a:t>
            </a:r>
            <a:endParaRPr lang="en-US" sz="1000" dirty="0"/>
          </a:p>
        </p:txBody>
      </p:sp>
      <p:sp>
        <p:nvSpPr>
          <p:cNvPr id="38" name="legend-old"/>
          <p:cNvSpPr/>
          <p:nvPr/>
        </p:nvSpPr>
        <p:spPr>
          <a:xfrm>
            <a:off x="2377440" y="4754880"/>
            <a:ext cx="182880" cy="137160"/>
          </a:xfrm>
          <a:prstGeom prst="roundRect">
            <a:avLst>
              <a:gd name="adj" fmla="val 20000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2606040" y="47091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carried over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M9: feasibility mask</a:t>
            </a:r>
            <a:endParaRPr lang="en-US" sz="3000" dirty="0"/>
          </a:p>
        </p:txBody>
      </p:sp>
      <p:sp>
        <p:nvSpPr>
          <p:cNvPr id="4" name="stack-box-1"/>
          <p:cNvSpPr/>
          <p:nvPr/>
        </p:nvSpPr>
        <p:spPr>
          <a:xfrm>
            <a:off x="457200" y="10972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stack-text-1"/>
          <p:cNvSpPr txBox="1"/>
          <p:nvPr/>
        </p:nvSpPr>
        <p:spPr>
          <a:xfrm>
            <a:off x="548640" y="10972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Per-job input (20)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status, size, wait, ttl, arrival (no usage)</a:t>
            </a:r>
            <a:endParaRPr lang="en-US" sz="1100" dirty="0"/>
          </a:p>
        </p:txBody>
      </p:sp>
      <p:sp>
        <p:nvSpPr>
          <p:cNvPr id="6" name="stack-arrow-1"/>
          <p:cNvSpPr/>
          <p:nvPr/>
        </p:nvSpPr>
        <p:spPr>
          <a:xfrm rot="10800000">
            <a:off x="2450592" y="14859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7" name="stack-box-2"/>
          <p:cNvSpPr/>
          <p:nvPr/>
        </p:nvSpPr>
        <p:spPr>
          <a:xfrm>
            <a:off x="457200" y="15544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stack-text-2"/>
          <p:cNvSpPr txBox="1"/>
          <p:nvPr/>
        </p:nvSpPr>
        <p:spPr>
          <a:xfrm>
            <a:off x="548640" y="15544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Job encoder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20 → 256 → 256, shared across jobs</a:t>
            </a:r>
            <a:endParaRPr lang="en-US" sz="1100" dirty="0"/>
          </a:p>
        </p:txBody>
      </p:sp>
      <p:sp>
        <p:nvSpPr>
          <p:cNvPr id="9" name="stack-arrow-2"/>
          <p:cNvSpPr/>
          <p:nvPr/>
        </p:nvSpPr>
        <p:spPr>
          <a:xfrm rot="10800000">
            <a:off x="2450592" y="19431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0" name="stack-box-3"/>
          <p:cNvSpPr/>
          <p:nvPr/>
        </p:nvSpPr>
        <p:spPr>
          <a:xfrm>
            <a:off x="457200" y="20116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DDF3E6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1" name="stack-text-3"/>
          <p:cNvSpPr txBox="1"/>
          <p:nvPr/>
        </p:nvSpPr>
        <p:spPr>
          <a:xfrm>
            <a:off x="548640" y="20116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Fit attention + mask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weight = 0 where job usage &gt; machine room</a:t>
            </a:r>
            <a:endParaRPr lang="en-US" sz="1100" dirty="0"/>
          </a:p>
        </p:txBody>
      </p:sp>
      <p:sp>
        <p:nvSpPr>
          <p:cNvPr id="12" name="stack-arrow-3"/>
          <p:cNvSpPr/>
          <p:nvPr/>
        </p:nvSpPr>
        <p:spPr>
          <a:xfrm rot="10800000">
            <a:off x="2450592" y="24003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3" name="stack-box-4"/>
          <p:cNvSpPr/>
          <p:nvPr/>
        </p:nvSpPr>
        <p:spPr>
          <a:xfrm>
            <a:off x="457200" y="24688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stack-text-4"/>
          <p:cNvSpPr txBox="1"/>
          <p:nvPr/>
        </p:nvSpPr>
        <p:spPr>
          <a:xfrm>
            <a:off x="548640" y="24688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Concat + project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[summary 256 | fit 64] → 256</a:t>
            </a:r>
            <a:endParaRPr lang="en-US" sz="1100" dirty="0"/>
          </a:p>
        </p:txBody>
      </p:sp>
      <p:sp>
        <p:nvSpPr>
          <p:cNvPr id="15" name="stack-arrow-4"/>
          <p:cNvSpPr/>
          <p:nvPr/>
        </p:nvSpPr>
        <p:spPr>
          <a:xfrm rot="10800000">
            <a:off x="2450592" y="28575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6" name="stack-box-5"/>
          <p:cNvSpPr/>
          <p:nvPr/>
        </p:nvSpPr>
        <p:spPr>
          <a:xfrm>
            <a:off x="457200" y="29260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stack-text-5"/>
          <p:cNvSpPr txBox="1"/>
          <p:nvPr/>
        </p:nvSpPr>
        <p:spPr>
          <a:xfrm>
            <a:off x="548640" y="29260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Job self-attention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4 heads, finished jobs masked</a:t>
            </a:r>
            <a:endParaRPr lang="en-US" sz="1100" dirty="0"/>
          </a:p>
        </p:txBody>
      </p:sp>
      <p:sp>
        <p:nvSpPr>
          <p:cNvPr id="18" name="stack-arrow-5"/>
          <p:cNvSpPr/>
          <p:nvPr/>
        </p:nvSpPr>
        <p:spPr>
          <a:xfrm rot="10800000">
            <a:off x="2450592" y="33147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9" name="stack-box-6"/>
          <p:cNvSpPr/>
          <p:nvPr/>
        </p:nvSpPr>
        <p:spPr>
          <a:xfrm>
            <a:off x="457200" y="33832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stack-text-6"/>
          <p:cNvSpPr txBox="1"/>
          <p:nvPr/>
        </p:nvSpPr>
        <p:spPr>
          <a:xfrm>
            <a:off x="548640" y="33832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Attention pooling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weighted sum of jobs → global summary</a:t>
            </a:r>
            <a:endParaRPr lang="en-US" sz="1100" dirty="0"/>
          </a:p>
        </p:txBody>
      </p:sp>
      <p:sp>
        <p:nvSpPr>
          <p:cNvPr id="21" name="stack-arrow-6"/>
          <p:cNvSpPr/>
          <p:nvPr/>
        </p:nvSpPr>
        <p:spPr>
          <a:xfrm rot="10800000">
            <a:off x="2450592" y="37719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22" name="stack-box-7"/>
          <p:cNvSpPr/>
          <p:nvPr/>
        </p:nvSpPr>
        <p:spPr>
          <a:xfrm>
            <a:off x="457200" y="38404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stack-text-7"/>
          <p:cNvSpPr txBox="1"/>
          <p:nvPr/>
        </p:nvSpPr>
        <p:spPr>
          <a:xfrm>
            <a:off x="548640" y="38404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Scorer per job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[global | machine | job] 768 → 128 → 1</a:t>
            </a:r>
            <a:endParaRPr lang="en-US" sz="1100" dirty="0"/>
          </a:p>
        </p:txBody>
      </p:sp>
      <p:sp>
        <p:nvSpPr>
          <p:cNvPr id="24" name="stack-arrow-7"/>
          <p:cNvSpPr/>
          <p:nvPr/>
        </p:nvSpPr>
        <p:spPr>
          <a:xfrm rot="10800000">
            <a:off x="2450592" y="42291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25" name="stack-box-8"/>
          <p:cNvSpPr/>
          <p:nvPr/>
        </p:nvSpPr>
        <p:spPr>
          <a:xfrm>
            <a:off x="457200" y="42976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stack-text-8"/>
          <p:cNvSpPr txBox="1"/>
          <p:nvPr/>
        </p:nvSpPr>
        <p:spPr>
          <a:xfrm>
            <a:off x="548640" y="42976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11 action logits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skip + one per job, softmax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4846320" y="10972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Change vs M7</a:t>
            </a:r>
            <a:endParaRPr lang="en-US" sz="1200" dirty="0"/>
          </a:p>
        </p:txBody>
      </p:sp>
      <p:sp>
        <p:nvSpPr>
          <p:cNvPr id="28" name="change-text"/>
          <p:cNvSpPr txBox="1"/>
          <p:nvPr/>
        </p:nvSpPr>
        <p:spPr>
          <a:xfrm>
            <a:off x="4846320" y="13258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job and machine pair gets zero weight when the job needs more than the machine has free.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4846320" y="21488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What we saw</a:t>
            </a:r>
            <a:endParaRPr lang="en-US" sz="1200" dirty="0"/>
          </a:p>
        </p:txBody>
      </p:sp>
      <p:sp>
        <p:nvSpPr>
          <p:cNvPr id="30" name="finding-text"/>
          <p:cNvSpPr txBox="1"/>
          <p:nvPr/>
        </p:nvSpPr>
        <p:spPr>
          <a:xfrm>
            <a:off x="4846320" y="23774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Jobs only draw on machines they can run on. First model to beat SJF: 800 wins, 662 losses.</a:t>
            </a:r>
            <a:endParaRPr lang="en-US" sz="1400" dirty="0"/>
          </a:p>
        </p:txBody>
      </p:sp>
      <p:sp>
        <p:nvSpPr>
          <p:cNvPr id="31" name="result-card"/>
          <p:cNvSpPr/>
          <p:nvPr/>
        </p:nvSpPr>
        <p:spPr>
          <a:xfrm>
            <a:off x="4846320" y="3246120"/>
            <a:ext cx="3840480" cy="1417320"/>
          </a:xfrm>
          <a:prstGeom prst="roundRect">
            <a:avLst>
              <a:gd name="adj" fmla="val 6452"/>
            </a:avLst>
          </a:prstGeom>
          <a:solidFill>
            <a:srgbClr val="F1F5F9"/>
          </a:solidFill>
          <a:ln w="1905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result-margin"/>
          <p:cNvSpPr txBox="1"/>
          <p:nvPr/>
        </p:nvSpPr>
        <p:spPr>
          <a:xfrm>
            <a:off x="4983480" y="33192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+2.28%</a:t>
            </a:r>
            <a:endParaRPr lang="en-US" sz="3200" dirty="0"/>
          </a:p>
        </p:txBody>
      </p:sp>
      <p:sp>
        <p:nvSpPr>
          <p:cNvPr id="33" name="Text 30"/>
          <p:cNvSpPr txBox="1"/>
          <p:nvPr/>
        </p:nvSpPr>
        <p:spPr>
          <a:xfrm>
            <a:off x="4983480" y="384962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vs SJF (mean reward)</a:t>
            </a:r>
            <a:endParaRPr lang="en-US" sz="1000" dirty="0"/>
          </a:p>
        </p:txBody>
      </p:sp>
      <p:sp>
        <p:nvSpPr>
          <p:cNvPr id="34" name="result-details"/>
          <p:cNvSpPr txBox="1"/>
          <p:nvPr/>
        </p:nvSpPr>
        <p:spPr>
          <a:xfrm>
            <a:off x="6720840" y="33375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reward −49.28   wait 9.97   completion 16.20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wins 800 / SJF 662 / ties 3538</a:t>
            </a:r>
            <a:endParaRPr lang="en-US" sz="1100" dirty="0"/>
          </a:p>
        </p:txBody>
      </p:sp>
      <p:sp>
        <p:nvSpPr>
          <p:cNvPr id="35" name="result-note"/>
          <p:cNvSpPr txBox="1"/>
          <p:nvPr/>
        </p:nvSpPr>
        <p:spPr>
          <a:xfrm>
            <a:off x="4983480" y="4160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Run etudt4qo · failed starts 0.012 per episode · current best</a:t>
            </a:r>
            <a:endParaRPr lang="en-US" sz="1100" dirty="0"/>
          </a:p>
        </p:txBody>
      </p:sp>
      <p:sp>
        <p:nvSpPr>
          <p:cNvPr id="36" name="legend-new"/>
          <p:cNvSpPr/>
          <p:nvPr/>
        </p:nvSpPr>
        <p:spPr>
          <a:xfrm>
            <a:off x="457200" y="4754880"/>
            <a:ext cx="182880" cy="137160"/>
          </a:xfrm>
          <a:prstGeom prst="roundRect">
            <a:avLst>
              <a:gd name="adj" fmla="val 20000"/>
            </a:avLst>
          </a:prstGeom>
          <a:solidFill>
            <a:srgbClr val="DDF3E6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85800" y="4709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changed in this model</a:t>
            </a:r>
            <a:endParaRPr lang="en-US" sz="1000" dirty="0"/>
          </a:p>
        </p:txBody>
      </p:sp>
      <p:sp>
        <p:nvSpPr>
          <p:cNvPr id="38" name="legend-old"/>
          <p:cNvSpPr/>
          <p:nvPr/>
        </p:nvSpPr>
        <p:spPr>
          <a:xfrm>
            <a:off x="2377440" y="4754880"/>
            <a:ext cx="182880" cy="137160"/>
          </a:xfrm>
          <a:prstGeom prst="roundRect">
            <a:avLst>
              <a:gd name="adj" fmla="val 20000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2606040" y="47091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carried over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M10: more entropy</a:t>
            </a:r>
            <a:endParaRPr lang="en-US" sz="3000" dirty="0"/>
          </a:p>
        </p:txBody>
      </p:sp>
      <p:sp>
        <p:nvSpPr>
          <p:cNvPr id="4" name="stack-box-1"/>
          <p:cNvSpPr/>
          <p:nvPr/>
        </p:nvSpPr>
        <p:spPr>
          <a:xfrm>
            <a:off x="457200" y="10972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stack-text-1"/>
          <p:cNvSpPr txBox="1"/>
          <p:nvPr/>
        </p:nvSpPr>
        <p:spPr>
          <a:xfrm>
            <a:off x="548640" y="10972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Per-job input (20)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status, size, wait, ttl, arrival (no usage)</a:t>
            </a:r>
            <a:endParaRPr lang="en-US" sz="1100" dirty="0"/>
          </a:p>
        </p:txBody>
      </p:sp>
      <p:sp>
        <p:nvSpPr>
          <p:cNvPr id="6" name="stack-arrow-1"/>
          <p:cNvSpPr/>
          <p:nvPr/>
        </p:nvSpPr>
        <p:spPr>
          <a:xfrm rot="10800000">
            <a:off x="2450592" y="14859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7" name="stack-box-2"/>
          <p:cNvSpPr/>
          <p:nvPr/>
        </p:nvSpPr>
        <p:spPr>
          <a:xfrm>
            <a:off x="457200" y="15544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stack-text-2"/>
          <p:cNvSpPr txBox="1"/>
          <p:nvPr/>
        </p:nvSpPr>
        <p:spPr>
          <a:xfrm>
            <a:off x="548640" y="15544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Job encoder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20 → 256 → 256, shared across jobs</a:t>
            </a:r>
            <a:endParaRPr lang="en-US" sz="1100" dirty="0"/>
          </a:p>
        </p:txBody>
      </p:sp>
      <p:sp>
        <p:nvSpPr>
          <p:cNvPr id="9" name="stack-arrow-2"/>
          <p:cNvSpPr/>
          <p:nvPr/>
        </p:nvSpPr>
        <p:spPr>
          <a:xfrm rot="10800000">
            <a:off x="2450592" y="19431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0" name="stack-box-3"/>
          <p:cNvSpPr/>
          <p:nvPr/>
        </p:nvSpPr>
        <p:spPr>
          <a:xfrm>
            <a:off x="457200" y="20116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stack-text-3"/>
          <p:cNvSpPr txBox="1"/>
          <p:nvPr/>
        </p:nvSpPr>
        <p:spPr>
          <a:xfrm>
            <a:off x="548640" y="20116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Fit attention + mask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weight = 0 where job usage &gt; machine room</a:t>
            </a:r>
            <a:endParaRPr lang="en-US" sz="1100" dirty="0"/>
          </a:p>
        </p:txBody>
      </p:sp>
      <p:sp>
        <p:nvSpPr>
          <p:cNvPr id="12" name="stack-arrow-3"/>
          <p:cNvSpPr/>
          <p:nvPr/>
        </p:nvSpPr>
        <p:spPr>
          <a:xfrm rot="10800000">
            <a:off x="2450592" y="24003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3" name="stack-box-4"/>
          <p:cNvSpPr/>
          <p:nvPr/>
        </p:nvSpPr>
        <p:spPr>
          <a:xfrm>
            <a:off x="457200" y="24688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stack-text-4"/>
          <p:cNvSpPr txBox="1"/>
          <p:nvPr/>
        </p:nvSpPr>
        <p:spPr>
          <a:xfrm>
            <a:off x="548640" y="24688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Concat + project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[summary 256 | fit 64] → 256</a:t>
            </a:r>
            <a:endParaRPr lang="en-US" sz="1100" dirty="0"/>
          </a:p>
        </p:txBody>
      </p:sp>
      <p:sp>
        <p:nvSpPr>
          <p:cNvPr id="15" name="stack-arrow-4"/>
          <p:cNvSpPr/>
          <p:nvPr/>
        </p:nvSpPr>
        <p:spPr>
          <a:xfrm rot="10800000">
            <a:off x="2450592" y="28575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6" name="stack-box-5"/>
          <p:cNvSpPr/>
          <p:nvPr/>
        </p:nvSpPr>
        <p:spPr>
          <a:xfrm>
            <a:off x="457200" y="29260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stack-text-5"/>
          <p:cNvSpPr txBox="1"/>
          <p:nvPr/>
        </p:nvSpPr>
        <p:spPr>
          <a:xfrm>
            <a:off x="548640" y="29260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Job self-attention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4 heads, finished jobs masked</a:t>
            </a:r>
            <a:endParaRPr lang="en-US" sz="1100" dirty="0"/>
          </a:p>
        </p:txBody>
      </p:sp>
      <p:sp>
        <p:nvSpPr>
          <p:cNvPr id="18" name="stack-arrow-5"/>
          <p:cNvSpPr/>
          <p:nvPr/>
        </p:nvSpPr>
        <p:spPr>
          <a:xfrm rot="10800000">
            <a:off x="2450592" y="33147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9" name="stack-box-6"/>
          <p:cNvSpPr/>
          <p:nvPr/>
        </p:nvSpPr>
        <p:spPr>
          <a:xfrm>
            <a:off x="457200" y="33832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stack-text-6"/>
          <p:cNvSpPr txBox="1"/>
          <p:nvPr/>
        </p:nvSpPr>
        <p:spPr>
          <a:xfrm>
            <a:off x="548640" y="33832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Attention pooling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weighted sum of jobs → global summary</a:t>
            </a:r>
            <a:endParaRPr lang="en-US" sz="1100" dirty="0"/>
          </a:p>
        </p:txBody>
      </p:sp>
      <p:sp>
        <p:nvSpPr>
          <p:cNvPr id="21" name="stack-arrow-6"/>
          <p:cNvSpPr/>
          <p:nvPr/>
        </p:nvSpPr>
        <p:spPr>
          <a:xfrm rot="10800000">
            <a:off x="2450592" y="37719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22" name="stack-box-7"/>
          <p:cNvSpPr/>
          <p:nvPr/>
        </p:nvSpPr>
        <p:spPr>
          <a:xfrm>
            <a:off x="457200" y="38404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stack-text-7"/>
          <p:cNvSpPr txBox="1"/>
          <p:nvPr/>
        </p:nvSpPr>
        <p:spPr>
          <a:xfrm>
            <a:off x="548640" y="38404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Scorer per job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[global | machine | job] 768 → 128 → 1</a:t>
            </a:r>
            <a:endParaRPr lang="en-US" sz="1100" dirty="0"/>
          </a:p>
        </p:txBody>
      </p:sp>
      <p:sp>
        <p:nvSpPr>
          <p:cNvPr id="24" name="stack-arrow-7"/>
          <p:cNvSpPr/>
          <p:nvPr/>
        </p:nvSpPr>
        <p:spPr>
          <a:xfrm rot="10800000">
            <a:off x="2450592" y="4229100"/>
            <a:ext cx="128016" cy="64008"/>
          </a:xfrm>
          <a:prstGeom prst="triangl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25" name="stack-box-8"/>
          <p:cNvSpPr/>
          <p:nvPr/>
        </p:nvSpPr>
        <p:spPr>
          <a:xfrm>
            <a:off x="457200" y="42976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DDF3E6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26" name="stack-text-8"/>
          <p:cNvSpPr txBox="1"/>
          <p:nvPr/>
        </p:nvSpPr>
        <p:spPr>
          <a:xfrm>
            <a:off x="548640" y="42976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Training change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entropy coefficient 0.05 → 0.01 (was 0.02 → 0.002)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4846320" y="10972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Change vs M9</a:t>
            </a:r>
            <a:endParaRPr lang="en-US" sz="1200" dirty="0"/>
          </a:p>
        </p:txBody>
      </p:sp>
      <p:sp>
        <p:nvSpPr>
          <p:cNvPr id="28" name="change-text"/>
          <p:cNvSpPr txBox="1"/>
          <p:nvPr/>
        </p:nvSpPr>
        <p:spPr>
          <a:xfrm>
            <a:off x="4846320" y="13258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Same network. The entropy coefficient is raised to keep the policy exploring longer.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4846320" y="21488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What we saw</a:t>
            </a:r>
            <a:endParaRPr lang="en-US" sz="1200" dirty="0"/>
          </a:p>
        </p:txBody>
      </p:sp>
      <p:sp>
        <p:nvSpPr>
          <p:cNvPr id="30" name="finding-text"/>
          <p:cNvSpPr txBox="1"/>
          <p:nvPr/>
        </p:nvSpPr>
        <p:spPr>
          <a:xfrm>
            <a:off x="4846320" y="23774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effect: +2.31% against +2.28%. Entropy still ends near 0.05. Rolled back to M9.</a:t>
            </a:r>
            <a:endParaRPr lang="en-US" sz="1400" dirty="0"/>
          </a:p>
        </p:txBody>
      </p:sp>
      <p:sp>
        <p:nvSpPr>
          <p:cNvPr id="31" name="result-card"/>
          <p:cNvSpPr/>
          <p:nvPr/>
        </p:nvSpPr>
        <p:spPr>
          <a:xfrm>
            <a:off x="4846320" y="3246120"/>
            <a:ext cx="3840480" cy="1417320"/>
          </a:xfrm>
          <a:prstGeom prst="roundRect">
            <a:avLst>
              <a:gd name="adj" fmla="val 6452"/>
            </a:avLst>
          </a:prstGeom>
          <a:solidFill>
            <a:srgbClr val="F1F5F9"/>
          </a:solidFill>
          <a:ln w="1905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result-margin"/>
          <p:cNvSpPr txBox="1"/>
          <p:nvPr/>
        </p:nvSpPr>
        <p:spPr>
          <a:xfrm>
            <a:off x="4983480" y="33192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+2.31%</a:t>
            </a:r>
            <a:endParaRPr lang="en-US" sz="3200" dirty="0"/>
          </a:p>
        </p:txBody>
      </p:sp>
      <p:sp>
        <p:nvSpPr>
          <p:cNvPr id="33" name="Text 30"/>
          <p:cNvSpPr txBox="1"/>
          <p:nvPr/>
        </p:nvSpPr>
        <p:spPr>
          <a:xfrm>
            <a:off x="4983480" y="384962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vs SJF (mean reward)</a:t>
            </a:r>
            <a:endParaRPr lang="en-US" sz="1000" dirty="0"/>
          </a:p>
        </p:txBody>
      </p:sp>
      <p:sp>
        <p:nvSpPr>
          <p:cNvPr id="34" name="result-details"/>
          <p:cNvSpPr txBox="1"/>
          <p:nvPr/>
        </p:nvSpPr>
        <p:spPr>
          <a:xfrm>
            <a:off x="6720840" y="33375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reward −49.27   wait 9.96   completion 16.20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wins 788 / SJF 730 / ties 3482</a:t>
            </a:r>
            <a:endParaRPr lang="en-US" sz="1100" dirty="0"/>
          </a:p>
        </p:txBody>
      </p:sp>
      <p:sp>
        <p:nvSpPr>
          <p:cNvPr id="35" name="result-note"/>
          <p:cNvSpPr txBox="1"/>
          <p:nvPr/>
        </p:nvSpPr>
        <p:spPr>
          <a:xfrm>
            <a:off x="4983480" y="4160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Run ne5qv1d2 · failed starts 0.016 per episode</a:t>
            </a:r>
            <a:endParaRPr lang="en-US" sz="1100" dirty="0"/>
          </a:p>
        </p:txBody>
      </p:sp>
      <p:sp>
        <p:nvSpPr>
          <p:cNvPr id="36" name="legend-new"/>
          <p:cNvSpPr/>
          <p:nvPr/>
        </p:nvSpPr>
        <p:spPr>
          <a:xfrm>
            <a:off x="457200" y="4754880"/>
            <a:ext cx="182880" cy="137160"/>
          </a:xfrm>
          <a:prstGeom prst="roundRect">
            <a:avLst>
              <a:gd name="adj" fmla="val 20000"/>
            </a:avLst>
          </a:prstGeom>
          <a:solidFill>
            <a:srgbClr val="DDF3E6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85800" y="4709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changed in this model</a:t>
            </a:r>
            <a:endParaRPr lang="en-US" sz="1000" dirty="0"/>
          </a:p>
        </p:txBody>
      </p:sp>
      <p:sp>
        <p:nvSpPr>
          <p:cNvPr id="38" name="legend-old"/>
          <p:cNvSpPr/>
          <p:nvPr/>
        </p:nvSpPr>
        <p:spPr>
          <a:xfrm>
            <a:off x="2377440" y="4754880"/>
            <a:ext cx="182880" cy="137160"/>
          </a:xfrm>
          <a:prstGeom prst="roundRect">
            <a:avLst>
              <a:gd name="adj" fmla="val 20000"/>
            </a:avLst>
          </a:prstGeom>
          <a:solidFill>
            <a:srgbClr val="EAF1FB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2606040" y="47091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carried over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Check: job position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Tried: train on every shuffled job order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3716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sample is copied once per cyclic shift of the 10 job slots, with the chosen action moved to the job's new slot.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Result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83464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Shuffling the jobs changes the logits only by moving them with the jobs, within 5e-7 (rounding). The model has no positional encoding and shares weights across jobs, so shuffled copies add nothing.</a:t>
            </a:r>
            <a:endParaRPr lang="en-US" sz="1400" dirty="0"/>
          </a:p>
        </p:txBody>
      </p:sp>
      <p:sp>
        <p:nvSpPr>
          <p:cNvPr id="8" name="equivariance-card"/>
          <p:cNvSpPr/>
          <p:nvPr/>
        </p:nvSpPr>
        <p:spPr>
          <a:xfrm>
            <a:off x="5120640" y="128016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F1F5F9"/>
          </a:solidFill>
          <a:ln w="190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303520" y="14630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5e-7</a:t>
            </a:r>
            <a:endParaRPr lang="en-US" sz="5400" dirty="0"/>
          </a:p>
        </p:txBody>
      </p:sp>
      <p:sp>
        <p:nvSpPr>
          <p:cNvPr id="10" name="Text 7"/>
          <p:cNvSpPr txBox="1"/>
          <p:nvPr/>
        </p:nvSpPr>
        <p:spPr>
          <a:xfrm>
            <a:off x="5303520" y="25146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largest logit difference between a shuffled input and the original, moved the same way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3474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Not run: 10 times the compute, no new information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step by step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51560"/>
          <a:ext cx="51206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852160" y="1097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Change between experiments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5852160" y="14173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M0 → M5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6858000" y="14173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+118.8 pts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7726680" y="14173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add usage inputs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5852160" y="194767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M5 → M6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858000" y="194767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+8.8 pts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7726680" y="194767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fit attention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5852160" y="247802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M6 → M7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6858000" y="247802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+20.1 pts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726680" y="247802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job self-attention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5852160" y="300837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M7 → M8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6858000" y="300837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−8.4 pts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7726680" y="300837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multiply (noise)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5852160" y="35387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M7 → M9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6858000" y="353872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+19.2 pts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7726680" y="35387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feasibility mask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5852160" y="4069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M9 → M10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6858000" y="406908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+0.03 pts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7726680" y="4069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more entropy (none)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5852160" y="4617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Points are margin points vs SJF; M8 and M10 are inside the ~10-point seed noise.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table (E4)</a:t>
            </a:r>
            <a:endParaRPr lang="en-US" sz="3000" dirty="0"/>
          </a:p>
        </p:txBody>
      </p:sp>
      <p:graphicFrame>
        <p:nvGraphicFramePr>
          <p:cNvPr id="23" name="summary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640080"/>
                <a:gridCol w="2057400"/>
                <a:gridCol w="731520"/>
                <a:gridCol w="777240"/>
                <a:gridCol w="548640"/>
                <a:gridCol w="594360"/>
                <a:gridCol w="10972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Run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Change vs previous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Reward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vs SJF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Wait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Compl.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 / L / 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rjzcixv2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SJF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baseline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−50.43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10.09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16.33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n/a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script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Optimal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exact search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−44.41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5B"/>
                          </a:solidFill>
                        </a:rPr>
                        <a:t>+11.9%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9.49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15.73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n/a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cf2zhwti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M0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cannot see usage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−133.44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</a:rPr>
                        <a:t>−164.6%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18.39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24.63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56/4837/107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z4sayojp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M5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usage as raw inputs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−73.53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</a:rPr>
                        <a:t>−45.81%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12.38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18.62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266/4528/206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iusicvre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M6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fit attention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−69.07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</a:rPr>
                        <a:t>−36.98%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11.60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17.83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497/4125/378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emt46quc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M7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+ job self-attention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−58.94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</a:rPr>
                        <a:t>−16.87%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10.83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17.07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855/3105/1040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bv1hk6lb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M8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multiply instead of concat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−63.20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</a:rPr>
                        <a:t>−25.3%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11.36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17.60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483/3841/676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etudt4qo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M9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+ feasibility mask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−49.28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5B"/>
                          </a:solidFill>
                        </a:rPr>
                        <a:t>+2.28%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9.97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16.20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800/662/3538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ne5qv1d2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M10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more entropy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−49.27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5B"/>
                          </a:solidFill>
                        </a:rPr>
                        <a:t>+2.31%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9.96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16.20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788/730/3482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 / L / T = PPO wins, SJF wins, ties. M8 and M10 differ from their parents by less than the ~10-point seed noise.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table (E1)</a:t>
            </a:r>
            <a:endParaRPr lang="en-US" sz="3000" dirty="0"/>
          </a:p>
        </p:txBody>
      </p:sp>
      <p:graphicFrame>
        <p:nvGraphicFramePr>
          <p:cNvPr id="24" name="e1-summary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731520"/>
                <a:gridCol w="3703320"/>
                <a:gridCol w="822960"/>
                <a:gridCol w="91440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Run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What it is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vs SJF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 / 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g231w4jg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M1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masked job self-attention + queue_pressure (original best)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9E5B"/>
                          </a:solidFill>
                        </a:rPr>
                        <a:t>+1.14%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82.00%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707 / 193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ddsv1ozh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15b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dual attention, 1 machine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9E5B"/>
                          </a:solidFill>
                        </a:rPr>
                        <a:t>+0.97%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75.74%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844 / 369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cxtxjusj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15c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gated cross-attention, 1M steps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9E5B"/>
                          </a:solidFill>
                        </a:rPr>
                        <a:t>+0.79%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84.36%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624 / 158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6b195fqa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M0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rebuilt np7aenua (rerun on E1)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9E5B"/>
                          </a:solidFill>
                        </a:rPr>
                        <a:t>+0.98%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khz1l51q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M1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rebuilt g231w4jg (rerun on E1)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</a:rPr>
                        <a:t>−0.15%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script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Optimal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exact DP (rerun SJF mkl0zwp7, −133.15)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9E5B"/>
                          </a:solidFill>
                        </a:rPr>
                        <a:t>+1.56%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0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 / L = PPO wins and SJF wins over 5000 episodes. Every E1 result is within about 1.5% of SJF: E1 has little room above the heuristic.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 and what is next</a:t>
            </a:r>
            <a:endParaRPr lang="en-US" sz="3000" dirty="0"/>
          </a:p>
        </p:txBody>
      </p:sp>
      <p:sp>
        <p:nvSpPr>
          <p:cNvPr id="4" name="takeaway-card-1"/>
          <p:cNvSpPr/>
          <p:nvPr/>
        </p:nvSpPr>
        <p:spPr>
          <a:xfrm>
            <a:off x="457200" y="118872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F1F5F9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worked</a:t>
            </a:r>
            <a:endParaRPr lang="en-US" sz="2000" dirty="0"/>
          </a:p>
        </p:txBody>
      </p:sp>
      <p:sp>
        <p:nvSpPr>
          <p:cNvPr id="6" name="takeaway-bullets-1"/>
          <p:cNvSpPr txBox="1"/>
          <p:nvPr/>
        </p:nvSpPr>
        <p:spPr>
          <a:xfrm>
            <a:off x="640080" y="1783080"/>
            <a:ext cx="2331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Seeing what fits: −164.6% to −37.0%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Comparing jobs: −16.9%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Masking jobs that cannot run: +2.3%, the first win over SJF</a:t>
            </a:r>
            <a:endParaRPr lang="en-US" sz="1400" dirty="0"/>
          </a:p>
        </p:txBody>
      </p:sp>
      <p:sp>
        <p:nvSpPr>
          <p:cNvPr id="7" name="takeaway-card-2"/>
          <p:cNvSpPr/>
          <p:nvPr/>
        </p:nvSpPr>
        <p:spPr>
          <a:xfrm>
            <a:off x="3246120" y="118872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F1F5F9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2900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not</a:t>
            </a:r>
            <a:endParaRPr lang="en-US" sz="2000" dirty="0"/>
          </a:p>
        </p:txBody>
      </p:sp>
      <p:sp>
        <p:nvSpPr>
          <p:cNvPr id="9" name="takeaway-bullets-2"/>
          <p:cNvSpPr txBox="1"/>
          <p:nvPr/>
        </p:nvSpPr>
        <p:spPr>
          <a:xfrm>
            <a:off x="3429000" y="1783080"/>
            <a:ext cx="2331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Multiplying instead of concatenating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higher entropy coefficient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Job-position augmentation (no gain possible)</a:t>
            </a:r>
            <a:endParaRPr lang="en-US" sz="1400" dirty="0"/>
          </a:p>
        </p:txBody>
      </p:sp>
      <p:sp>
        <p:nvSpPr>
          <p:cNvPr id="10" name="takeaway-card-3"/>
          <p:cNvSpPr/>
          <p:nvPr/>
        </p:nvSpPr>
        <p:spPr>
          <a:xfrm>
            <a:off x="6035040" y="118872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F1F5F9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1792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2000" dirty="0"/>
          </a:p>
        </p:txBody>
      </p:sp>
      <p:sp>
        <p:nvSpPr>
          <p:cNvPr id="12" name="takeaway-bullets-3"/>
          <p:cNvSpPr txBox="1"/>
          <p:nvPr/>
        </p:nvSpPr>
        <p:spPr>
          <a:xfrm>
            <a:off x="6217920" y="1783080"/>
            <a:ext cx="2331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second seed of M9 to confirm +2.3%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Action masking on the logits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Behaviour-cloning from SJF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Ablate each attention step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heduling Experiments">
  <a:themeElements>
    <a:clrScheme name="Scheduling Experiments">
      <a:dk1>
        <a:srgbClr val="1B2330"/>
      </a:dk1>
      <a:lt1>
        <a:srgbClr val="FFFFFF"/>
      </a:lt1>
      <a:dk2>
        <a:srgbClr val="14213D"/>
      </a:dk2>
      <a:lt2>
        <a:srgbClr val="F1F5F9"/>
      </a:lt2>
      <a:accent1>
        <a:srgbClr val="1C7293"/>
      </a:accent1>
      <a:accent2>
        <a:srgbClr val="2E9E5B"/>
      </a:accent2>
      <a:accent3>
        <a:srgbClr val="E0A100"/>
      </a:accent3>
      <a:accent4>
        <a:srgbClr val="C0392B"/>
      </a:accent4>
      <a:accent5>
        <a:srgbClr val="8FB3E8"/>
      </a:accent5>
      <a:accent6>
        <a:srgbClr val="5C6B7A"/>
      </a:accent6>
      <a:hlink>
        <a:srgbClr val="1C7293"/>
      </a:hlink>
      <a:folHlink>
        <a:srgbClr val="5C6B7A"/>
      </a:folHlink>
    </a:clrScheme>
    <a:fontScheme name="Scheduling Experiment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PPO vs SJF: scheduling experiments</dc:title>
  <dc:subject>PptxGenJS Presentation</dc:subject>
  <dc:creator>PptxGenJS</dc:creator>
  <cp:lastModifiedBy>PptxGenJS</cp:lastModifiedBy>
  <cp:revision>1</cp:revision>
  <dcterms:created xsi:type="dcterms:W3CDTF">2026-10-09T21:36:42Z</dcterms:created>
  <dcterms:modified xsi:type="dcterms:W3CDTF">2026-10-09T21:36:42Z</dcterms:modified>
</cp:coreProperties>
</file>